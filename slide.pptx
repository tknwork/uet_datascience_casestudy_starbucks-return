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66"/>
    <p:restoredTop sz="94681"/>
  </p:normalViewPr>
  <p:slideViewPr>
    <p:cSldViewPr snapToGrid="0" snapToObjects="1">
      <p:cViewPr varScale="1">
        <p:scale>
          <a:sx n="98" d="100"/>
          <a:sy n="98" d="100"/>
        </p:scale>
        <p:origin x="437" y="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685523-D292-5D48-9276-61B9302BA942}" type="datetimeFigureOut">
              <a:rPr lang="en-VN" smtClean="0"/>
              <a:t>06/02/2026</a:t>
            </a:fld>
            <a:endParaRPr lang="en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4E4E75-9E20-F34F-8C82-219E4BC254A6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703305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74066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900" b="1">
                <a:solidFill>
                  <a:srgbClr val="004C33"/>
                </a:solidFill>
                <a:latin typeface="Aptos Display"/>
              </a:defRPr>
            </a:pPr>
            <a:r>
              <a:t>Starbucks Customer Return</a:t>
            </a:r>
            <a:br/>
            <a:r>
              <a:t>Behavior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331720"/>
            <a:ext cx="7223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6E7873"/>
                </a:solidFill>
              </a:defRPr>
            </a:pPr>
            <a:r>
              <a:t>Starbucks Customers Return — Data Science Case Study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3063240"/>
            <a:ext cx="7543800" cy="960120"/>
          </a:xfrm>
          <a:prstGeom prst="roundRect">
            <a:avLst/>
          </a:prstGeom>
          <a:solidFill>
            <a:srgbClr val="F1F8F4"/>
          </a:solidFill>
          <a:ln w="12700">
            <a:solidFill>
              <a:srgbClr val="DA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37160" rtlCol="0" anchor="ctr"/>
          <a:lstStyle/>
          <a:p>
            <a:pPr algn="ctr">
              <a:defRPr sz="1300" b="1">
                <a:solidFill>
                  <a:srgbClr val="004C33"/>
                </a:solidFill>
                <a:latin typeface="Aptos Display"/>
              </a:defRPr>
            </a:pPr>
            <a:r>
              <a:rPr sz="1400"/>
              <a:t>Business question</a:t>
            </a:r>
          </a:p>
          <a:p>
            <a:pPr>
              <a:spcBef>
                <a:spcPts val="400"/>
              </a:spcBef>
              <a:defRPr sz="1150">
                <a:solidFill>
                  <a:srgbClr val="232D28"/>
                </a:solidFill>
                <a:latin typeface="Aptos"/>
              </a:defRPr>
            </a:pPr>
            <a:r>
              <a:rPr sz="1400"/>
              <a:t>“Những nhóm khách hàng nào thường xuyên và ít thường xuyên sử dụng dịch vụ Starbucks?”</a:t>
            </a:r>
          </a:p>
        </p:txBody>
      </p:sp>
      <p:sp>
        <p:nvSpPr>
          <p:cNvPr id="8" name="Can 7"/>
          <p:cNvSpPr/>
          <p:nvPr/>
        </p:nvSpPr>
        <p:spPr>
          <a:xfrm>
            <a:off x="8869680" y="1143000"/>
            <a:ext cx="2148840" cy="3291840"/>
          </a:xfrm>
          <a:prstGeom prst="can">
            <a:avLst/>
          </a:prstGeom>
          <a:solidFill>
            <a:srgbClr val="007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9372600" y="1901952"/>
            <a:ext cx="1143000" cy="1143000"/>
          </a:xfrm>
          <a:prstGeom prst="ellipse">
            <a:avLst/>
          </a:prstGeom>
          <a:solidFill>
            <a:srgbClr val="FFFFFF"/>
          </a:solidFill>
          <a:ln>
            <a:solidFill>
              <a:srgbClr val="DAE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/>
            </a:pPr>
            <a:r>
              <a:rPr dirty="0"/>
              <a:t>☕</a:t>
            </a:r>
          </a:p>
        </p:txBody>
      </p:sp>
      <p:pic>
        <p:nvPicPr>
          <p:cNvPr id="1026" name="Picture 2" descr="Logo Starbucks Format Cdr &amp; Png - Biologizone">
            <a:extLst>
              <a:ext uri="{FF2B5EF4-FFF2-40B4-BE49-F238E27FC236}">
                <a16:creationId xmlns:a16="http://schemas.microsoft.com/office/drawing/2014/main" id="{B31EC167-F04A-1BC4-4F11-A3B1F74AB8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8770" y="1724854"/>
            <a:ext cx="2070659" cy="1552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ounded Rectangle 5">
            <a:extLst>
              <a:ext uri="{FF2B5EF4-FFF2-40B4-BE49-F238E27FC236}">
                <a16:creationId xmlns:a16="http://schemas.microsoft.com/office/drawing/2014/main" id="{DCDC4E17-764A-E43E-B0F3-C588B5ACE961}"/>
              </a:ext>
            </a:extLst>
          </p:cNvPr>
          <p:cNvSpPr/>
          <p:nvPr/>
        </p:nvSpPr>
        <p:spPr>
          <a:xfrm>
            <a:off x="3143093" y="4588667"/>
            <a:ext cx="3132133" cy="899042"/>
          </a:xfrm>
          <a:prstGeom prst="roundRect">
            <a:avLst/>
          </a:prstGeom>
          <a:solidFill>
            <a:srgbClr val="F1F8F4"/>
          </a:solidFill>
          <a:ln w="12700">
            <a:solidFill>
              <a:srgbClr val="DA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37160" rtlCol="0" anchor="ctr"/>
          <a:lstStyle/>
          <a:p>
            <a:pPr algn="ctr">
              <a:defRPr sz="1300" b="1">
                <a:solidFill>
                  <a:srgbClr val="004C33"/>
                </a:solidFill>
                <a:latin typeface="Aptos Display"/>
              </a:defRPr>
            </a:pPr>
            <a:r>
              <a:rPr lang="en-US" sz="1400" dirty="0"/>
              <a:t>Group</a:t>
            </a:r>
            <a:endParaRPr sz="1400" dirty="0"/>
          </a:p>
          <a:p>
            <a:pPr algn="ctr">
              <a:spcBef>
                <a:spcPts val="400"/>
              </a:spcBef>
              <a:defRPr sz="1150">
                <a:solidFill>
                  <a:srgbClr val="232D28"/>
                </a:solidFill>
                <a:latin typeface="Aptos"/>
              </a:defRPr>
            </a:pPr>
            <a:r>
              <a:rPr lang="en-US" sz="1400" dirty="0"/>
              <a:t>Nguyễn Anh </a:t>
            </a:r>
            <a:r>
              <a:rPr lang="en-US" sz="1400" dirty="0" err="1"/>
              <a:t>Sơn</a:t>
            </a:r>
            <a:r>
              <a:rPr lang="en-US" sz="1400" dirty="0"/>
              <a:t> </a:t>
            </a:r>
            <a:br>
              <a:rPr lang="en-US" sz="1400" dirty="0"/>
            </a:br>
            <a:r>
              <a:rPr lang="en-US" sz="1400" dirty="0"/>
              <a:t>Nguyễn Khắc Tùng</a:t>
            </a:r>
            <a:endParaRPr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796777"/>
            <a:ext cx="8961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4C33"/>
                </a:solidFill>
                <a:latin typeface="Aptos Display"/>
              </a:defRPr>
            </a:pPr>
            <a:r>
              <a:rPr dirty="0"/>
              <a:t>Business Context &amp;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05707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32D28"/>
                </a:solidFill>
                <a:latin typeface="Aptos"/>
              </a:defRPr>
            </a:pPr>
            <a:r>
              <a:rPr dirty="0"/>
              <a:t>• Starbucks 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chỉ</a:t>
            </a:r>
            <a:r>
              <a:rPr dirty="0"/>
              <a:t> </a:t>
            </a:r>
            <a:r>
              <a:rPr dirty="0" err="1"/>
              <a:t>bán</a:t>
            </a:r>
            <a:r>
              <a:rPr dirty="0"/>
              <a:t> </a:t>
            </a:r>
            <a:r>
              <a:rPr dirty="0" err="1"/>
              <a:t>cà</a:t>
            </a:r>
            <a:r>
              <a:rPr dirty="0"/>
              <a:t> </a:t>
            </a:r>
            <a:r>
              <a:rPr dirty="0" err="1"/>
              <a:t>phê</a:t>
            </a:r>
            <a:r>
              <a:rPr dirty="0"/>
              <a:t>, </a:t>
            </a:r>
            <a:r>
              <a:rPr dirty="0" err="1"/>
              <a:t>mà</a:t>
            </a:r>
            <a:r>
              <a:rPr dirty="0"/>
              <a:t> </a:t>
            </a:r>
            <a:r>
              <a:rPr dirty="0" err="1"/>
              <a:t>còn</a:t>
            </a:r>
            <a:r>
              <a:rPr dirty="0"/>
              <a:t> </a:t>
            </a:r>
            <a:r>
              <a:rPr dirty="0" err="1"/>
              <a:t>bán</a:t>
            </a:r>
            <a:r>
              <a:rPr dirty="0"/>
              <a:t> </a:t>
            </a:r>
            <a:r>
              <a:rPr dirty="0" err="1"/>
              <a:t>trải</a:t>
            </a:r>
            <a:r>
              <a:rPr dirty="0"/>
              <a:t> </a:t>
            </a:r>
            <a:r>
              <a:rPr dirty="0" err="1"/>
              <a:t>nghiệm</a:t>
            </a:r>
            <a:r>
              <a:rPr dirty="0"/>
              <a:t>: 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gian</a:t>
            </a:r>
            <a:r>
              <a:rPr dirty="0"/>
              <a:t>, </a:t>
            </a:r>
            <a:r>
              <a:rPr dirty="0" err="1"/>
              <a:t>thói</a:t>
            </a:r>
            <a:r>
              <a:rPr dirty="0"/>
              <a:t> </a:t>
            </a:r>
            <a:r>
              <a:rPr dirty="0" err="1"/>
              <a:t>quen</a:t>
            </a:r>
            <a:r>
              <a:rPr dirty="0"/>
              <a:t>, membership </a:t>
            </a:r>
            <a:r>
              <a:rPr dirty="0" err="1"/>
              <a:t>và</a:t>
            </a:r>
            <a:r>
              <a:rPr dirty="0"/>
              <a:t> lifestyle.</a:t>
            </a:r>
          </a:p>
          <a:p>
            <a:pPr>
              <a:spcAft>
                <a:spcPts val="500"/>
              </a:spcAft>
              <a:defRPr sz="1500">
                <a:solidFill>
                  <a:srgbClr val="232D28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Hiểu</a:t>
            </a:r>
            <a:r>
              <a:rPr dirty="0"/>
              <a:t> </a:t>
            </a:r>
            <a:r>
              <a:rPr dirty="0" err="1"/>
              <a:t>nhóm</a:t>
            </a:r>
            <a:r>
              <a:rPr dirty="0"/>
              <a:t> Frequent/Infrequent </a:t>
            </a:r>
            <a:r>
              <a:rPr dirty="0" err="1"/>
              <a:t>giúp</a:t>
            </a:r>
            <a:r>
              <a:rPr dirty="0"/>
              <a:t> </a:t>
            </a:r>
            <a:r>
              <a:rPr dirty="0" err="1"/>
              <a:t>đề</a:t>
            </a:r>
            <a:r>
              <a:rPr dirty="0"/>
              <a:t> </a:t>
            </a:r>
            <a:r>
              <a:rPr dirty="0" err="1"/>
              <a:t>xuất</a:t>
            </a:r>
            <a:r>
              <a:rPr dirty="0"/>
              <a:t> </a:t>
            </a:r>
            <a:r>
              <a:rPr dirty="0" err="1"/>
              <a:t>chiến</a:t>
            </a:r>
            <a:r>
              <a:rPr dirty="0"/>
              <a:t> </a:t>
            </a:r>
            <a:r>
              <a:rPr dirty="0" err="1"/>
              <a:t>lược</a:t>
            </a:r>
            <a:r>
              <a:rPr dirty="0"/>
              <a:t> </a:t>
            </a:r>
            <a:r>
              <a:rPr dirty="0" err="1"/>
              <a:t>giữ</a:t>
            </a:r>
            <a:r>
              <a:rPr dirty="0"/>
              <a:t> </a:t>
            </a:r>
            <a:r>
              <a:rPr dirty="0" err="1"/>
              <a:t>chân</a:t>
            </a:r>
            <a:r>
              <a:rPr dirty="0"/>
              <a:t> </a:t>
            </a:r>
            <a:r>
              <a:rPr dirty="0" err="1"/>
              <a:t>khách</a:t>
            </a:r>
            <a:r>
              <a:rPr dirty="0"/>
              <a:t> </a:t>
            </a:r>
            <a:r>
              <a:rPr dirty="0" err="1"/>
              <a:t>hàng</a:t>
            </a:r>
            <a:r>
              <a:rPr dirty="0"/>
              <a:t>.</a:t>
            </a:r>
          </a:p>
          <a:p>
            <a:pPr>
              <a:spcAft>
                <a:spcPts val="500"/>
              </a:spcAft>
              <a:defRPr sz="1500">
                <a:solidFill>
                  <a:srgbClr val="232D28"/>
                </a:solidFill>
                <a:latin typeface="Aptos"/>
              </a:defRPr>
            </a:pPr>
            <a:r>
              <a:rPr dirty="0"/>
              <a:t>• Retention 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thể</a:t>
            </a:r>
            <a:r>
              <a:rPr dirty="0"/>
              <a:t> </a:t>
            </a:r>
            <a:r>
              <a:rPr dirty="0" err="1"/>
              <a:t>nhìn</a:t>
            </a:r>
            <a:r>
              <a:rPr dirty="0"/>
              <a:t> </a:t>
            </a:r>
            <a:r>
              <a:rPr dirty="0" err="1"/>
              <a:t>bằng</a:t>
            </a:r>
            <a:r>
              <a:rPr dirty="0"/>
              <a:t> </a:t>
            </a:r>
            <a:r>
              <a:rPr dirty="0" err="1"/>
              <a:t>một</a:t>
            </a:r>
            <a:r>
              <a:rPr dirty="0"/>
              <a:t> </a:t>
            </a:r>
            <a:r>
              <a:rPr dirty="0" err="1"/>
              <a:t>biến</a:t>
            </a:r>
            <a:r>
              <a:rPr dirty="0"/>
              <a:t> </a:t>
            </a:r>
            <a:r>
              <a:rPr dirty="0" err="1"/>
              <a:t>đơn</a:t>
            </a:r>
            <a:r>
              <a:rPr dirty="0"/>
              <a:t> </a:t>
            </a:r>
            <a:r>
              <a:rPr dirty="0" err="1"/>
              <a:t>lẻ</a:t>
            </a:r>
            <a:r>
              <a:rPr dirty="0"/>
              <a:t>; </a:t>
            </a:r>
            <a:r>
              <a:rPr dirty="0" err="1"/>
              <a:t>cần</a:t>
            </a:r>
            <a:r>
              <a:rPr dirty="0"/>
              <a:t> </a:t>
            </a:r>
            <a:r>
              <a:rPr dirty="0" err="1"/>
              <a:t>kết</a:t>
            </a:r>
            <a:r>
              <a:rPr dirty="0"/>
              <a:t> </a:t>
            </a:r>
            <a:r>
              <a:rPr dirty="0" err="1"/>
              <a:t>hợp</a:t>
            </a:r>
            <a:r>
              <a:rPr dirty="0"/>
              <a:t> </a:t>
            </a:r>
            <a:r>
              <a:rPr dirty="0" err="1"/>
              <a:t>tần</a:t>
            </a:r>
            <a:r>
              <a:rPr dirty="0"/>
              <a:t> </a:t>
            </a:r>
            <a:r>
              <a:rPr dirty="0" err="1"/>
              <a:t>suất</a:t>
            </a:r>
            <a:r>
              <a:rPr dirty="0"/>
              <a:t>, chi </a:t>
            </a:r>
            <a:r>
              <a:rPr dirty="0" err="1"/>
              <a:t>tiêu</a:t>
            </a:r>
            <a:r>
              <a:rPr dirty="0"/>
              <a:t>, membership </a:t>
            </a:r>
            <a:r>
              <a:rPr dirty="0" err="1"/>
              <a:t>và</a:t>
            </a:r>
            <a:r>
              <a:rPr dirty="0"/>
              <a:t> profile </a:t>
            </a:r>
            <a:r>
              <a:rPr dirty="0" err="1"/>
              <a:t>khách</a:t>
            </a:r>
            <a:r>
              <a:rPr dirty="0"/>
              <a:t> </a:t>
            </a:r>
            <a:r>
              <a:rPr dirty="0" err="1"/>
              <a:t>hàng</a:t>
            </a:r>
            <a:r>
              <a:rPr dirty="0"/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4073769"/>
            <a:ext cx="1965960" cy="777240"/>
          </a:xfrm>
          <a:prstGeom prst="roundRect">
            <a:avLst/>
          </a:prstGeom>
          <a:solidFill>
            <a:srgbClr val="F1F8F4"/>
          </a:solidFill>
          <a:ln>
            <a:solidFill>
              <a:srgbClr val="DAE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04C33"/>
                </a:solidFill>
              </a:defRPr>
            </a:pPr>
            <a:r>
              <a:rPr dirty="0"/>
              <a:t>Customer</a:t>
            </a:r>
            <a:br>
              <a:rPr dirty="0"/>
            </a:br>
            <a:r>
              <a:rPr dirty="0"/>
              <a:t>behavior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880360" y="4256649"/>
            <a:ext cx="502920" cy="320040"/>
          </a:xfrm>
          <a:prstGeom prst="rightArrow">
            <a:avLst/>
          </a:prstGeom>
          <a:solidFill>
            <a:srgbClr val="C29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611880" y="4073769"/>
            <a:ext cx="1965960" cy="777240"/>
          </a:xfrm>
          <a:prstGeom prst="roundRect">
            <a:avLst/>
          </a:prstGeom>
          <a:solidFill>
            <a:srgbClr val="F1F8F4"/>
          </a:solidFill>
          <a:ln>
            <a:solidFill>
              <a:srgbClr val="DAE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04C33"/>
                </a:solidFill>
              </a:defRPr>
            </a:pPr>
            <a:r>
              <a:rPr dirty="0"/>
              <a:t>Return</a:t>
            </a:r>
            <a:br>
              <a:rPr dirty="0"/>
            </a:br>
            <a:r>
              <a:rPr dirty="0"/>
              <a:t>frequency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623560" y="4256649"/>
            <a:ext cx="502920" cy="320040"/>
          </a:xfrm>
          <a:prstGeom prst="rightArrow">
            <a:avLst/>
          </a:prstGeom>
          <a:solidFill>
            <a:srgbClr val="C29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355080" y="4073769"/>
            <a:ext cx="1965960" cy="777240"/>
          </a:xfrm>
          <a:prstGeom prst="roundRect">
            <a:avLst/>
          </a:prstGeom>
          <a:solidFill>
            <a:srgbClr val="F1F8F4"/>
          </a:solidFill>
          <a:ln>
            <a:solidFill>
              <a:srgbClr val="DAE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04C33"/>
                </a:solidFill>
              </a:defRPr>
            </a:pPr>
            <a:r>
              <a:t>Segmentation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366760" y="4256649"/>
            <a:ext cx="502920" cy="320040"/>
          </a:xfrm>
          <a:prstGeom prst="rightArrow">
            <a:avLst/>
          </a:prstGeom>
          <a:solidFill>
            <a:srgbClr val="C29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098280" y="4073769"/>
            <a:ext cx="1965960" cy="777240"/>
          </a:xfrm>
          <a:prstGeom prst="roundRect">
            <a:avLst/>
          </a:prstGeom>
          <a:solidFill>
            <a:srgbClr val="00704A"/>
          </a:solidFill>
          <a:ln>
            <a:solidFill>
              <a:srgbClr val="DAE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/>
              <a:t>Recommendation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781147"/>
            <a:ext cx="8961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4C33"/>
                </a:solidFill>
                <a:latin typeface="Aptos Display"/>
              </a:defRPr>
            </a:pPr>
            <a:r>
              <a:rPr dirty="0"/>
              <a:t>Dataset Overview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9394589"/>
              </p:ext>
            </p:extLst>
          </p:nvPr>
        </p:nvGraphicFramePr>
        <p:xfrm>
          <a:off x="685800" y="2144151"/>
          <a:ext cx="658368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244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Dataset</a:t>
                      </a:r>
                    </a:p>
                  </a:txBody>
                  <a:tcPr marL="54864" marR="54864" marT="36576" marB="36576" anchor="ctr">
                    <a:solidFill>
                      <a:srgbClr val="0070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Rows</a:t>
                      </a:r>
                    </a:p>
                  </a:txBody>
                  <a:tcPr marL="54864" marR="54864" marT="36576" marB="36576" anchor="ctr">
                    <a:solidFill>
                      <a:srgbClr val="0070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Columns</a:t>
                      </a:r>
                    </a:p>
                  </a:txBody>
                  <a:tcPr marL="54864" marR="54864" marT="36576" marB="36576" anchor="ctr">
                    <a:solidFill>
                      <a:srgbClr val="0070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Missing</a:t>
                      </a:r>
                    </a:p>
                  </a:txBody>
                  <a:tcPr marL="54864" marR="54864" marT="36576" marB="36576" anchor="ctr">
                    <a:solidFill>
                      <a:srgbClr val="0070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Duplicates</a:t>
                      </a:r>
                    </a:p>
                  </a:txBody>
                  <a:tcPr marL="54864" marR="54864" marT="36576" marB="36576" anchor="ctr">
                    <a:solidFill>
                      <a:srgbClr val="0070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32D28"/>
                          </a:solidFill>
                          <a:latin typeface="Aptos"/>
                        </a:defRPr>
                      </a:pPr>
                      <a:r>
                        <a:t>Raw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D28"/>
                          </a:solidFill>
                          <a:latin typeface="Aptos"/>
                        </a:defRPr>
                      </a:pPr>
                      <a:r>
                        <a:t>122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D28"/>
                          </a:solidFill>
                          <a:latin typeface="Aptos"/>
                        </a:defRPr>
                      </a:pPr>
                      <a:r>
                        <a:t>21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D28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D28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32D28"/>
                          </a:solidFill>
                          <a:latin typeface="Aptos"/>
                        </a:defRPr>
                      </a:pPr>
                      <a:r>
                        <a:t>Cleaned</a:t>
                      </a:r>
                    </a:p>
                  </a:txBody>
                  <a:tcPr marL="54864" marR="54864" marT="36576" marB="36576" anchor="ctr">
                    <a:solidFill>
                      <a:srgbClr val="F8FB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D28"/>
                          </a:solidFill>
                          <a:latin typeface="Aptos"/>
                        </a:defRPr>
                      </a:pPr>
                      <a:r>
                        <a:t>113</a:t>
                      </a:r>
                    </a:p>
                  </a:txBody>
                  <a:tcPr marL="54864" marR="54864" marT="36576" marB="36576" anchor="ctr">
                    <a:solidFill>
                      <a:srgbClr val="F8FB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D28"/>
                          </a:solidFill>
                          <a:latin typeface="Aptos"/>
                        </a:defRPr>
                      </a:pPr>
                      <a:r>
                        <a:t>33</a:t>
                      </a:r>
                    </a:p>
                  </a:txBody>
                  <a:tcPr marL="54864" marR="54864" marT="36576" marB="36576" anchor="ctr">
                    <a:solidFill>
                      <a:srgbClr val="F8FB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D28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54864" marR="54864" marT="36576" marB="36576" anchor="ctr">
                    <a:solidFill>
                      <a:srgbClr val="F8FB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D28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54864" marR="54864" marT="36576" marB="36576" anchor="ctr">
                    <a:solidFill>
                      <a:srgbClr val="F8F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863840" y="2144151"/>
            <a:ext cx="3337560" cy="1417320"/>
          </a:xfrm>
          <a:prstGeom prst="roundRect">
            <a:avLst/>
          </a:prstGeom>
          <a:solidFill>
            <a:srgbClr val="F1F8F4"/>
          </a:solidFill>
          <a:ln w="12700">
            <a:solidFill>
              <a:srgbClr val="DA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37160" rtlCol="0" anchor="ctr"/>
          <a:lstStyle/>
          <a:p>
            <a:pPr algn="ctr">
              <a:defRPr sz="1300" b="1">
                <a:solidFill>
                  <a:srgbClr val="004C33"/>
                </a:solidFill>
                <a:latin typeface="Aptos Display"/>
              </a:defRPr>
            </a:pPr>
            <a:r>
              <a:t>Nguồn phân tích chính</a:t>
            </a:r>
          </a:p>
          <a:p>
            <a:pPr>
              <a:spcBef>
                <a:spcPts val="400"/>
              </a:spcBef>
              <a:defRPr sz="1150">
                <a:solidFill>
                  <a:srgbClr val="232D28"/>
                </a:solidFill>
                <a:latin typeface="Aptos"/>
              </a:defRPr>
            </a:pPr>
            <a:r>
              <a:t>Cleaned dataset được dùng làm nguồn chính cho EDA vì đã loại missing values và chuẩn hóa cấu trúc biến.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927231"/>
            <a:ext cx="6949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32D28"/>
                </a:solidFill>
                <a:latin typeface="Aptos"/>
              </a:defRPr>
            </a:pPr>
            <a:r>
              <a:t>• Raw dataset: 122 dòng, 21 cột.</a:t>
            </a:r>
          </a:p>
          <a:p>
            <a:pPr>
              <a:spcAft>
                <a:spcPts val="500"/>
              </a:spcAft>
              <a:defRPr sz="1500">
                <a:solidFill>
                  <a:srgbClr val="232D28"/>
                </a:solidFill>
                <a:latin typeface="Aptos"/>
              </a:defRPr>
            </a:pPr>
            <a:r>
              <a:t>• Cleaned dataset: 113 dòng, 33 cột.</a:t>
            </a:r>
          </a:p>
          <a:p>
            <a:pPr>
              <a:spcAft>
                <a:spcPts val="500"/>
              </a:spcAft>
              <a:defRPr sz="1500">
                <a:solidFill>
                  <a:srgbClr val="232D28"/>
                </a:solidFill>
                <a:latin typeface="Aptos"/>
              </a:defRPr>
            </a:pPr>
            <a:r>
              <a:t>• Raw có 2 missing values; cleaned có 0 missing values.</a:t>
            </a:r>
          </a:p>
          <a:p>
            <a:pPr>
              <a:spcAft>
                <a:spcPts val="500"/>
              </a:spcAft>
              <a:defRPr sz="1500">
                <a:solidFill>
                  <a:srgbClr val="232D28"/>
                </a:solidFill>
                <a:latin typeface="Aptos"/>
              </a:defRPr>
            </a:pPr>
            <a:r>
              <a:t>• Không có duplicated rows.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99978"/>
            <a:ext cx="8961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4C33"/>
                </a:solidFill>
                <a:latin typeface="Aptos Display"/>
              </a:defRPr>
            </a:pPr>
            <a:r>
              <a:rPr dirty="0"/>
              <a:t>Data Cleaning &amp; Preparation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430975"/>
            <a:ext cx="1691640" cy="868680"/>
          </a:xfrm>
          <a:prstGeom prst="roundRect">
            <a:avLst/>
          </a:prstGeom>
          <a:solidFill>
            <a:srgbClr val="F1F8F4"/>
          </a:solidFill>
          <a:ln>
            <a:solidFill>
              <a:srgbClr val="DAE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4C33"/>
                </a:solidFill>
              </a:defRPr>
            </a:pPr>
            <a:r>
              <a:t>Raw survey</a:t>
            </a:r>
          </a:p>
          <a:p>
            <a:pPr algn="ctr">
              <a:defRPr sz="1000">
                <a:solidFill>
                  <a:srgbClr val="6E7873"/>
                </a:solidFill>
              </a:defRPr>
            </a:pPr>
            <a:r>
              <a:t>122 rows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423160" y="2641287"/>
            <a:ext cx="411480" cy="320040"/>
          </a:xfrm>
          <a:prstGeom prst="rightArrow">
            <a:avLst/>
          </a:prstGeom>
          <a:solidFill>
            <a:srgbClr val="C29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926080" y="2430975"/>
            <a:ext cx="1691640" cy="868680"/>
          </a:xfrm>
          <a:prstGeom prst="roundRect">
            <a:avLst/>
          </a:prstGeom>
          <a:solidFill>
            <a:srgbClr val="F1F8F4"/>
          </a:solidFill>
          <a:ln>
            <a:solidFill>
              <a:srgbClr val="DAE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4C33"/>
                </a:solidFill>
              </a:defRPr>
            </a:pPr>
            <a:r>
              <a:t>Cleaning</a:t>
            </a:r>
          </a:p>
          <a:p>
            <a:pPr algn="ctr">
              <a:defRPr sz="1000">
                <a:solidFill>
                  <a:srgbClr val="6E7873"/>
                </a:solidFill>
              </a:defRPr>
            </a:pPr>
            <a:r>
              <a:t>standardize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663440" y="2641287"/>
            <a:ext cx="411480" cy="320040"/>
          </a:xfrm>
          <a:prstGeom prst="rightArrow">
            <a:avLst/>
          </a:prstGeom>
          <a:solidFill>
            <a:srgbClr val="C29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166360" y="2430975"/>
            <a:ext cx="1691640" cy="868680"/>
          </a:xfrm>
          <a:prstGeom prst="roundRect">
            <a:avLst/>
          </a:prstGeom>
          <a:solidFill>
            <a:srgbClr val="F1F8F4"/>
          </a:solidFill>
          <a:ln>
            <a:solidFill>
              <a:srgbClr val="DAE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4C33"/>
                </a:solidFill>
              </a:defRPr>
            </a:pPr>
            <a:r>
              <a:t>Encoding</a:t>
            </a:r>
          </a:p>
          <a:p>
            <a:pPr algn="ctr">
              <a:defRPr sz="1000">
                <a:solidFill>
                  <a:srgbClr val="6E7873"/>
                </a:solidFill>
              </a:defRPr>
            </a:pPr>
            <a:r>
              <a:t>categorical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903720" y="2641287"/>
            <a:ext cx="411480" cy="320040"/>
          </a:xfrm>
          <a:prstGeom prst="rightArrow">
            <a:avLst/>
          </a:prstGeom>
          <a:solidFill>
            <a:srgbClr val="C29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406640" y="2430975"/>
            <a:ext cx="1691640" cy="868680"/>
          </a:xfrm>
          <a:prstGeom prst="roundRect">
            <a:avLst/>
          </a:prstGeom>
          <a:solidFill>
            <a:srgbClr val="F1F8F4"/>
          </a:solidFill>
          <a:ln>
            <a:solidFill>
              <a:srgbClr val="DAE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4C33"/>
                </a:solidFill>
              </a:defRPr>
            </a:pPr>
            <a:r>
              <a:t>Label mapping</a:t>
            </a:r>
          </a:p>
          <a:p>
            <a:pPr algn="ctr">
              <a:defRPr sz="1000">
                <a:solidFill>
                  <a:srgbClr val="6E7873"/>
                </a:solidFill>
              </a:defRPr>
            </a:pPr>
            <a:r>
              <a:t>return group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144000" y="2641287"/>
            <a:ext cx="411480" cy="320040"/>
          </a:xfrm>
          <a:prstGeom prst="rightArrow">
            <a:avLst/>
          </a:prstGeom>
          <a:solidFill>
            <a:srgbClr val="C29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646920" y="2430975"/>
            <a:ext cx="1691640" cy="868680"/>
          </a:xfrm>
          <a:prstGeom prst="roundRect">
            <a:avLst/>
          </a:prstGeom>
          <a:solidFill>
            <a:srgbClr val="00704A"/>
          </a:solidFill>
          <a:ln>
            <a:solidFill>
              <a:srgbClr val="DAE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Analysis-ready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113 rows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031175"/>
            <a:ext cx="10332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32D28"/>
                </a:solidFill>
                <a:latin typeface="Aptos"/>
              </a:defRPr>
            </a:pPr>
            <a:r>
              <a:t>• Chuẩn hóa tên cột để dễ phân tích.</a:t>
            </a:r>
          </a:p>
          <a:p>
            <a:pPr>
              <a:spcAft>
                <a:spcPts val="500"/>
              </a:spcAft>
              <a:defRPr sz="1500">
                <a:solidFill>
                  <a:srgbClr val="232D28"/>
                </a:solidFill>
                <a:latin typeface="Aptos"/>
              </a:defRPr>
            </a:pPr>
            <a:r>
              <a:t>• Encode biến phân loại và tách một số câu trả lời nhiều lựa chọn thành nhiều cột.</a:t>
            </a:r>
          </a:p>
          <a:p>
            <a:pPr>
              <a:spcAft>
                <a:spcPts val="500"/>
              </a:spcAft>
              <a:defRPr sz="1500">
                <a:solidFill>
                  <a:srgbClr val="232D28"/>
                </a:solidFill>
                <a:latin typeface="Aptos"/>
              </a:defRPr>
            </a:pPr>
            <a:r>
              <a:t>• Xử lý giá trị không nhất quán như Never, Never buy, NA.</a:t>
            </a:r>
          </a:p>
          <a:p>
            <a:pPr>
              <a:spcAft>
                <a:spcPts val="500"/>
              </a:spcAft>
              <a:defRPr sz="1500">
                <a:solidFill>
                  <a:srgbClr val="232D28"/>
                </a:solidFill>
                <a:latin typeface="Aptos"/>
              </a:defRPr>
            </a:pPr>
            <a:r>
              <a:t>• Loại bỏ một số bản ghi không phù hợp: từ 122 còn 113 dòng.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804594"/>
            <a:ext cx="8961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4C33"/>
                </a:solidFill>
                <a:latin typeface="Aptos Display"/>
              </a:defRPr>
            </a:pPr>
            <a:r>
              <a:rPr dirty="0"/>
              <a:t>Feature Engineering — Defining Return 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07192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32D28"/>
                </a:solidFill>
                <a:latin typeface="Aptos"/>
              </a:defRPr>
            </a:pPr>
            <a:r>
              <a:t>• Biến gốc: visitNo.</a:t>
            </a:r>
          </a:p>
          <a:p>
            <a:pPr>
              <a:spcAft>
                <a:spcPts val="500"/>
              </a:spcAft>
              <a:defRPr sz="1500">
                <a:solidFill>
                  <a:srgbClr val="232D28"/>
                </a:solidFill>
                <a:latin typeface="Aptos"/>
              </a:defRPr>
            </a:pPr>
            <a:r>
              <a:t>• Daily, Weekly, Monthly → Frequent.</a:t>
            </a:r>
          </a:p>
          <a:p>
            <a:pPr>
              <a:spcAft>
                <a:spcPts val="500"/>
              </a:spcAft>
              <a:defRPr sz="1500">
                <a:solidFill>
                  <a:srgbClr val="232D28"/>
                </a:solidFill>
                <a:latin typeface="Aptos"/>
              </a:defRPr>
            </a:pPr>
            <a:r>
              <a:t>• Rarely → Infrequent.</a:t>
            </a:r>
          </a:p>
          <a:p>
            <a:pPr>
              <a:spcAft>
                <a:spcPts val="500"/>
              </a:spcAft>
              <a:defRPr sz="1500">
                <a:solidFill>
                  <a:srgbClr val="232D28"/>
                </a:solidFill>
                <a:latin typeface="Aptos"/>
              </a:defRPr>
            </a:pPr>
            <a:r>
              <a:t>• Kết quả: Frequent = 37 khách; Infrequent = 76 khách.</a:t>
            </a:r>
          </a:p>
          <a:p>
            <a:pPr>
              <a:spcAft>
                <a:spcPts val="500"/>
              </a:spcAft>
              <a:defRPr sz="1500">
                <a:solidFill>
                  <a:srgbClr val="232D28"/>
                </a:solidFill>
                <a:latin typeface="Aptos"/>
              </a:defRPr>
            </a:pPr>
            <a:r>
              <a:t>• Rarely chiếm 67.3% trong cleaned dataset.</a:t>
            </a:r>
          </a:p>
        </p:txBody>
      </p:sp>
      <p:pic>
        <p:nvPicPr>
          <p:cNvPr id="6" name="Picture 5" descr="return_gro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643184"/>
            <a:ext cx="5029200" cy="3063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" y="4752144"/>
            <a:ext cx="10058400" cy="822960"/>
          </a:xfrm>
          <a:prstGeom prst="roundRect">
            <a:avLst/>
          </a:prstGeom>
          <a:solidFill>
            <a:srgbClr val="F1F8F4"/>
          </a:solidFill>
          <a:ln w="12700">
            <a:solidFill>
              <a:srgbClr val="DA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37160" rtlCol="0" anchor="ctr"/>
          <a:lstStyle/>
          <a:p>
            <a:pPr algn="ctr">
              <a:defRPr sz="1300" b="1">
                <a:solidFill>
                  <a:srgbClr val="004C33"/>
                </a:solidFill>
                <a:latin typeface="Aptos Display"/>
              </a:defRPr>
            </a:pPr>
            <a:r>
              <a:rPr sz="1400" dirty="0"/>
              <a:t>Operational definition</a:t>
            </a:r>
          </a:p>
          <a:p>
            <a:pPr algn="ctr">
              <a:spcBef>
                <a:spcPts val="400"/>
              </a:spcBef>
              <a:defRPr sz="1150">
                <a:solidFill>
                  <a:srgbClr val="232D28"/>
                </a:solidFill>
                <a:latin typeface="Aptos"/>
              </a:defRPr>
            </a:pPr>
            <a:r>
              <a:rPr sz="1400" dirty="0" err="1"/>
              <a:t>Đây</a:t>
            </a:r>
            <a:r>
              <a:rPr sz="1400" dirty="0"/>
              <a:t> </a:t>
            </a:r>
            <a:r>
              <a:rPr sz="1400" dirty="0" err="1"/>
              <a:t>là</a:t>
            </a:r>
            <a:r>
              <a:rPr sz="1400" dirty="0"/>
              <a:t> </a:t>
            </a:r>
            <a:r>
              <a:rPr sz="1400" dirty="0" err="1"/>
              <a:t>cách</a:t>
            </a:r>
            <a:r>
              <a:rPr sz="1400" dirty="0"/>
              <a:t> </a:t>
            </a:r>
            <a:r>
              <a:rPr sz="1400" dirty="0" err="1"/>
              <a:t>định</a:t>
            </a:r>
            <a:r>
              <a:rPr sz="1400" dirty="0"/>
              <a:t> </a:t>
            </a:r>
            <a:r>
              <a:rPr sz="1400" dirty="0" err="1"/>
              <a:t>nghĩa</a:t>
            </a:r>
            <a:r>
              <a:rPr sz="1400" dirty="0"/>
              <a:t> target </a:t>
            </a:r>
            <a:r>
              <a:rPr sz="1400" dirty="0" err="1"/>
              <a:t>trong</a:t>
            </a:r>
            <a:r>
              <a:rPr sz="1400" dirty="0"/>
              <a:t> </a:t>
            </a:r>
            <a:r>
              <a:rPr sz="1400" dirty="0" err="1"/>
              <a:t>phạm</a:t>
            </a:r>
            <a:r>
              <a:rPr sz="1400" dirty="0"/>
              <a:t> vi </a:t>
            </a:r>
            <a:r>
              <a:rPr sz="1400" dirty="0" err="1"/>
              <a:t>bài</a:t>
            </a:r>
            <a:r>
              <a:rPr sz="1400" dirty="0"/>
              <a:t>. </a:t>
            </a:r>
            <a:r>
              <a:rPr sz="1400" dirty="0" err="1"/>
              <a:t>Nếu</a:t>
            </a:r>
            <a:r>
              <a:rPr sz="1400" dirty="0"/>
              <a:t> </a:t>
            </a:r>
            <a:r>
              <a:rPr sz="1400" dirty="0" err="1"/>
              <a:t>có</a:t>
            </a:r>
            <a:r>
              <a:rPr sz="1400" dirty="0"/>
              <a:t> </a:t>
            </a:r>
            <a:r>
              <a:rPr sz="1400" dirty="0" err="1"/>
              <a:t>dữ</a:t>
            </a:r>
            <a:r>
              <a:rPr sz="1400" dirty="0"/>
              <a:t> </a:t>
            </a:r>
            <a:r>
              <a:rPr sz="1400" dirty="0" err="1"/>
              <a:t>liệu</a:t>
            </a:r>
            <a:r>
              <a:rPr sz="1400" dirty="0"/>
              <a:t> </a:t>
            </a:r>
            <a:r>
              <a:rPr sz="1400" dirty="0" err="1"/>
              <a:t>giao</a:t>
            </a:r>
            <a:r>
              <a:rPr sz="1400" dirty="0"/>
              <a:t> </a:t>
            </a:r>
            <a:r>
              <a:rPr sz="1400" dirty="0" err="1"/>
              <a:t>dịch</a:t>
            </a:r>
            <a:r>
              <a:rPr sz="1400" dirty="0"/>
              <a:t> </a:t>
            </a:r>
            <a:r>
              <a:rPr sz="1400" dirty="0" err="1"/>
              <a:t>thực</a:t>
            </a:r>
            <a:r>
              <a:rPr sz="1400" dirty="0"/>
              <a:t> </a:t>
            </a:r>
            <a:r>
              <a:rPr sz="1400" dirty="0" err="1"/>
              <a:t>tế</a:t>
            </a:r>
            <a:r>
              <a:rPr sz="1400" dirty="0"/>
              <a:t>, threshold </a:t>
            </a:r>
            <a:r>
              <a:rPr sz="1400" dirty="0" err="1"/>
              <a:t>nên</a:t>
            </a:r>
            <a:r>
              <a:rPr sz="1400" dirty="0"/>
              <a:t> </a:t>
            </a:r>
            <a:r>
              <a:rPr sz="1400" dirty="0" err="1"/>
              <a:t>được</a:t>
            </a:r>
            <a:r>
              <a:rPr sz="1400" dirty="0"/>
              <a:t> </a:t>
            </a:r>
            <a:r>
              <a:rPr sz="1400" dirty="0" err="1"/>
              <a:t>kiểm</a:t>
            </a:r>
            <a:r>
              <a:rPr sz="1400" dirty="0"/>
              <a:t> </a:t>
            </a:r>
            <a:r>
              <a:rPr sz="1400" dirty="0" err="1"/>
              <a:t>định</a:t>
            </a:r>
            <a:r>
              <a:rPr sz="1400" dirty="0"/>
              <a:t> </a:t>
            </a:r>
            <a:r>
              <a:rPr sz="1400" dirty="0" err="1"/>
              <a:t>lại</a:t>
            </a:r>
            <a:r>
              <a:rPr sz="1400"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702988"/>
            <a:ext cx="8961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4C33"/>
                </a:solidFill>
                <a:latin typeface="Aptos Display"/>
              </a:defRPr>
            </a:pPr>
            <a:r>
              <a:t>Analytical Framework &amp; Research Questions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03364"/>
            <a:ext cx="50292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37160" rtlCol="0" anchor="ctr"/>
          <a:lstStyle/>
          <a:p>
            <a:pPr algn="ctr">
              <a:defRPr sz="1300" b="1">
                <a:solidFill>
                  <a:srgbClr val="004C33"/>
                </a:solidFill>
                <a:latin typeface="Aptos Display"/>
              </a:defRPr>
            </a:pPr>
            <a:r>
              <a:rPr sz="1600" dirty="0"/>
              <a:t>Q1</a:t>
            </a:r>
          </a:p>
          <a:p>
            <a:pPr algn="ctr">
              <a:spcBef>
                <a:spcPts val="400"/>
              </a:spcBef>
              <a:defRPr sz="1150">
                <a:solidFill>
                  <a:srgbClr val="232D28"/>
                </a:solidFill>
                <a:latin typeface="Aptos"/>
              </a:defRPr>
            </a:pPr>
            <a:r>
              <a:rPr sz="1600" dirty="0"/>
              <a:t>Frequent customers </a:t>
            </a:r>
            <a:r>
              <a:rPr sz="1600" dirty="0" err="1"/>
              <a:t>khác</a:t>
            </a:r>
            <a:r>
              <a:rPr sz="1600" dirty="0"/>
              <a:t> Infrequent customers ở </a:t>
            </a:r>
            <a:r>
              <a:rPr sz="1600" dirty="0" err="1"/>
              <a:t>điểm</a:t>
            </a:r>
            <a:r>
              <a:rPr sz="1600" dirty="0"/>
              <a:t> </a:t>
            </a:r>
            <a:r>
              <a:rPr sz="1600" dirty="0" err="1"/>
              <a:t>nào</a:t>
            </a:r>
            <a:r>
              <a:rPr sz="1600" dirty="0"/>
              <a:t>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703364"/>
            <a:ext cx="50292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37160" rtlCol="0" anchor="ctr"/>
          <a:lstStyle/>
          <a:p>
            <a:pPr algn="ctr">
              <a:defRPr sz="1300" b="1">
                <a:solidFill>
                  <a:srgbClr val="004C33"/>
                </a:solidFill>
                <a:latin typeface="Aptos Display"/>
              </a:defRPr>
            </a:pPr>
            <a:r>
              <a:rPr sz="1600" dirty="0"/>
              <a:t>Q2</a:t>
            </a:r>
          </a:p>
          <a:p>
            <a:pPr algn="ctr">
              <a:spcBef>
                <a:spcPts val="400"/>
              </a:spcBef>
              <a:defRPr sz="1150">
                <a:solidFill>
                  <a:srgbClr val="232D28"/>
                </a:solidFill>
                <a:latin typeface="Aptos"/>
              </a:defRPr>
            </a:pPr>
            <a:r>
              <a:rPr sz="1600" dirty="0" err="1"/>
              <a:t>Biến</a:t>
            </a:r>
            <a:r>
              <a:rPr sz="1600" dirty="0"/>
              <a:t> </a:t>
            </a:r>
            <a:r>
              <a:rPr sz="1600" dirty="0" err="1"/>
              <a:t>nào</a:t>
            </a:r>
            <a:r>
              <a:rPr sz="1600" dirty="0"/>
              <a:t> </a:t>
            </a:r>
            <a:r>
              <a:rPr sz="1600" dirty="0" err="1"/>
              <a:t>có</a:t>
            </a:r>
            <a:r>
              <a:rPr sz="1600" dirty="0"/>
              <a:t> pattern </a:t>
            </a:r>
            <a:r>
              <a:rPr sz="1600" dirty="0" err="1"/>
              <a:t>rõ</a:t>
            </a:r>
            <a:r>
              <a:rPr sz="1600" dirty="0"/>
              <a:t> </a:t>
            </a:r>
            <a:r>
              <a:rPr sz="1600" dirty="0" err="1"/>
              <a:t>nhất</a:t>
            </a:r>
            <a:r>
              <a:rPr sz="1600" dirty="0"/>
              <a:t> </a:t>
            </a:r>
            <a:r>
              <a:rPr sz="1600" dirty="0" err="1"/>
              <a:t>với</a:t>
            </a:r>
            <a:r>
              <a:rPr sz="1600" dirty="0"/>
              <a:t> </a:t>
            </a:r>
            <a:r>
              <a:rPr sz="1600" dirty="0" err="1"/>
              <a:t>return_group</a:t>
            </a:r>
            <a:r>
              <a:rPr sz="1600" dirty="0"/>
              <a:t>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937804"/>
            <a:ext cx="50292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37160" rtlCol="0" anchor="ctr"/>
          <a:lstStyle/>
          <a:p>
            <a:pPr algn="ctr">
              <a:defRPr sz="1300" b="1">
                <a:solidFill>
                  <a:srgbClr val="004C33"/>
                </a:solidFill>
                <a:latin typeface="Aptos Display"/>
              </a:defRPr>
            </a:pPr>
            <a:r>
              <a:rPr sz="1600" dirty="0"/>
              <a:t>Q3</a:t>
            </a:r>
          </a:p>
          <a:p>
            <a:pPr algn="ctr">
              <a:spcBef>
                <a:spcPts val="400"/>
              </a:spcBef>
              <a:defRPr sz="1150">
                <a:solidFill>
                  <a:srgbClr val="232D28"/>
                </a:solidFill>
                <a:latin typeface="Aptos"/>
              </a:defRPr>
            </a:pPr>
            <a:r>
              <a:rPr sz="1600" dirty="0" err="1"/>
              <a:t>Có</a:t>
            </a:r>
            <a:r>
              <a:rPr sz="1600" dirty="0"/>
              <a:t> </a:t>
            </a:r>
            <a:r>
              <a:rPr sz="1600" dirty="0" err="1"/>
              <a:t>thể</a:t>
            </a:r>
            <a:r>
              <a:rPr sz="1600" dirty="0"/>
              <a:t> </a:t>
            </a:r>
            <a:r>
              <a:rPr sz="1600" dirty="0" err="1"/>
              <a:t>phân</a:t>
            </a:r>
            <a:r>
              <a:rPr sz="1600" dirty="0"/>
              <a:t> </a:t>
            </a:r>
            <a:r>
              <a:rPr sz="1600" dirty="0" err="1"/>
              <a:t>nhóm</a:t>
            </a:r>
            <a:r>
              <a:rPr sz="1600" dirty="0"/>
              <a:t> </a:t>
            </a:r>
            <a:r>
              <a:rPr sz="1600" dirty="0" err="1"/>
              <a:t>khách</a:t>
            </a:r>
            <a:r>
              <a:rPr sz="1600" dirty="0"/>
              <a:t> </a:t>
            </a:r>
            <a:r>
              <a:rPr sz="1600" dirty="0" err="1"/>
              <a:t>hàng</a:t>
            </a:r>
            <a:r>
              <a:rPr sz="1600" dirty="0"/>
              <a:t> </a:t>
            </a:r>
            <a:r>
              <a:rPr sz="1600" dirty="0" err="1"/>
              <a:t>theo</a:t>
            </a:r>
            <a:r>
              <a:rPr sz="1600" dirty="0"/>
              <a:t> status </a:t>
            </a:r>
            <a:r>
              <a:rPr sz="1600" dirty="0" err="1"/>
              <a:t>không</a:t>
            </a:r>
            <a:r>
              <a:rPr sz="1600" dirty="0"/>
              <a:t>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2937804"/>
            <a:ext cx="50292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37160" rtlCol="0" anchor="ctr"/>
          <a:lstStyle/>
          <a:p>
            <a:pPr algn="ctr">
              <a:defRPr sz="1300" b="1">
                <a:solidFill>
                  <a:srgbClr val="004C33"/>
                </a:solidFill>
                <a:latin typeface="Aptos Display"/>
              </a:defRPr>
            </a:pPr>
            <a:r>
              <a:rPr sz="1600"/>
              <a:t>Q4</a:t>
            </a:r>
          </a:p>
          <a:p>
            <a:pPr algn="ctr">
              <a:spcBef>
                <a:spcPts val="400"/>
              </a:spcBef>
              <a:defRPr sz="1150">
                <a:solidFill>
                  <a:srgbClr val="232D28"/>
                </a:solidFill>
                <a:latin typeface="Aptos"/>
              </a:defRPr>
            </a:pPr>
            <a:r>
              <a:rPr sz="1600"/>
              <a:t>Insight nào đủ mạnh để chuyển thành recommendation?</a:t>
            </a:r>
          </a:p>
        </p:txBody>
      </p:sp>
      <p:sp>
        <p:nvSpPr>
          <p:cNvPr id="9" name="Oval 8"/>
          <p:cNvSpPr/>
          <p:nvPr/>
        </p:nvSpPr>
        <p:spPr>
          <a:xfrm>
            <a:off x="960120" y="4629444"/>
            <a:ext cx="1051560" cy="1051560"/>
          </a:xfrm>
          <a:prstGeom prst="ellipse">
            <a:avLst/>
          </a:prstGeom>
          <a:solidFill>
            <a:srgbClr val="F1F8F4"/>
          </a:solidFill>
          <a:ln>
            <a:solidFill>
              <a:srgbClr val="DAE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4C33"/>
                </a:solidFill>
              </a:defRPr>
            </a:pPr>
            <a:r>
              <a:rPr sz="1400"/>
              <a:t>Data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011680" y="5150652"/>
            <a:ext cx="1554480" cy="0"/>
          </a:xfrm>
          <a:prstGeom prst="line">
            <a:avLst/>
          </a:prstGeom>
          <a:ln w="25400">
            <a:solidFill>
              <a:srgbClr val="C29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703320" y="4629444"/>
            <a:ext cx="1051560" cy="1051560"/>
          </a:xfrm>
          <a:prstGeom prst="ellipse">
            <a:avLst/>
          </a:prstGeom>
          <a:solidFill>
            <a:srgbClr val="F1F8F4"/>
          </a:solidFill>
          <a:ln>
            <a:solidFill>
              <a:srgbClr val="DAE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4C33"/>
                </a:solidFill>
              </a:defRPr>
            </a:pPr>
            <a:r>
              <a:rPr sz="1400"/>
              <a:t>EDA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754879" y="5150652"/>
            <a:ext cx="1554481" cy="0"/>
          </a:xfrm>
          <a:prstGeom prst="line">
            <a:avLst/>
          </a:prstGeom>
          <a:ln w="25400">
            <a:solidFill>
              <a:srgbClr val="C29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6446520" y="4629444"/>
            <a:ext cx="1051560" cy="1051560"/>
          </a:xfrm>
          <a:prstGeom prst="ellipse">
            <a:avLst/>
          </a:prstGeom>
          <a:solidFill>
            <a:srgbClr val="F1F8F4"/>
          </a:solidFill>
          <a:ln>
            <a:solidFill>
              <a:srgbClr val="DAE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4C33"/>
                </a:solidFill>
              </a:defRPr>
            </a:pPr>
            <a:r>
              <a:rPr sz="1400" dirty="0"/>
              <a:t>Segmentation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498079" y="5150652"/>
            <a:ext cx="1554481" cy="0"/>
          </a:xfrm>
          <a:prstGeom prst="line">
            <a:avLst/>
          </a:prstGeom>
          <a:ln w="25400">
            <a:solidFill>
              <a:srgbClr val="C29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9189720" y="4629444"/>
            <a:ext cx="1051560" cy="1051560"/>
          </a:xfrm>
          <a:prstGeom prst="ellipse">
            <a:avLst/>
          </a:prstGeom>
          <a:solidFill>
            <a:srgbClr val="00704A"/>
          </a:solidFill>
          <a:ln>
            <a:solidFill>
              <a:srgbClr val="DAE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sz="1400"/>
              <a:t>Recommendation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40471"/>
            <a:ext cx="8961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4C33"/>
                </a:solidFill>
                <a:latin typeface="Aptos Display"/>
              </a:defRPr>
            </a:pPr>
            <a:r>
              <a:t>Overall Return Behavior</a:t>
            </a:r>
          </a:p>
        </p:txBody>
      </p:sp>
      <p:pic>
        <p:nvPicPr>
          <p:cNvPr id="5" name="Picture 4" descr="visit_lab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00909"/>
            <a:ext cx="5760720" cy="33375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0" y="1675229"/>
            <a:ext cx="3931920" cy="1097280"/>
          </a:xfrm>
          <a:prstGeom prst="roundRect">
            <a:avLst/>
          </a:prstGeom>
          <a:solidFill>
            <a:srgbClr val="F1F8F4"/>
          </a:solidFill>
          <a:ln w="12700">
            <a:solidFill>
              <a:srgbClr val="DA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37160" rtlCol="0" anchor="ctr"/>
          <a:lstStyle/>
          <a:p>
            <a:pPr algn="ctr">
              <a:defRPr sz="1300" b="1">
                <a:solidFill>
                  <a:srgbClr val="004C33"/>
                </a:solidFill>
                <a:latin typeface="Aptos Display"/>
              </a:defRPr>
            </a:pPr>
            <a:r>
              <a:rPr sz="1400"/>
              <a:t>Frequent customers</a:t>
            </a:r>
          </a:p>
          <a:p>
            <a:pPr>
              <a:spcBef>
                <a:spcPts val="400"/>
              </a:spcBef>
              <a:defRPr sz="1150">
                <a:solidFill>
                  <a:srgbClr val="232D28"/>
                </a:solidFill>
                <a:latin typeface="Aptos"/>
              </a:defRPr>
            </a:pPr>
            <a:r>
              <a:rPr sz="1400"/>
              <a:t>37/113 khách</a:t>
            </a:r>
            <a:br>
              <a:rPr sz="1400"/>
            </a:br>
            <a:r>
              <a:rPr sz="1400"/>
              <a:t>Daily: 2 | Weekly: 9 | Monthly: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3001109"/>
            <a:ext cx="39319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37160" rtlCol="0" anchor="ctr"/>
          <a:lstStyle/>
          <a:p>
            <a:pPr algn="ctr">
              <a:defRPr sz="1300" b="1">
                <a:solidFill>
                  <a:srgbClr val="004C33"/>
                </a:solidFill>
                <a:latin typeface="Aptos Display"/>
              </a:defRPr>
            </a:pPr>
            <a:r>
              <a:rPr sz="1400"/>
              <a:t>Infrequent customers</a:t>
            </a:r>
          </a:p>
          <a:p>
            <a:pPr>
              <a:spcBef>
                <a:spcPts val="400"/>
              </a:spcBef>
              <a:defRPr sz="1150">
                <a:solidFill>
                  <a:srgbClr val="232D28"/>
                </a:solidFill>
                <a:latin typeface="Aptos"/>
              </a:defRPr>
            </a:pPr>
            <a:r>
              <a:rPr sz="1400"/>
              <a:t>76/113 khách</a:t>
            </a:r>
            <a:br>
              <a:rPr sz="1400"/>
            </a:br>
            <a:r>
              <a:rPr sz="1400"/>
              <a:t>Phần lớn khách trong mẫu là Rarely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3720" y="4509869"/>
            <a:ext cx="3931920" cy="10182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32D28"/>
                </a:solidFill>
                <a:latin typeface="Aptos"/>
              </a:defRPr>
            </a:pPr>
            <a:r>
              <a:rPr sz="1400"/>
              <a:t>• Thách thức chính là phần lớn khách chưa quay lại thường xuyên.</a:t>
            </a:r>
          </a:p>
          <a:p>
            <a:pPr>
              <a:spcAft>
                <a:spcPts val="500"/>
              </a:spcAft>
              <a:defRPr sz="1400">
                <a:solidFill>
                  <a:srgbClr val="232D28"/>
                </a:solidFill>
                <a:latin typeface="Aptos"/>
              </a:defRPr>
            </a:pPr>
            <a:r>
              <a:rPr sz="1400"/>
              <a:t>• Cần hiểu nhóm Rarely khác gì so với nhóm Frequent để tăng retention.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546684"/>
            <a:ext cx="8961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4C33"/>
                </a:solidFill>
                <a:latin typeface="Aptos Display"/>
              </a:defRPr>
            </a:pPr>
            <a:r>
              <a:rPr dirty="0"/>
              <a:t>Sample Profile — Who Are the Customers?</a:t>
            </a:r>
          </a:p>
        </p:txBody>
      </p:sp>
      <p:pic>
        <p:nvPicPr>
          <p:cNvPr id="5" name="Picture 4" descr="sample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43000"/>
            <a:ext cx="6309360" cy="342900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995160" y="1234440"/>
          <a:ext cx="425196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pPr algn="l">
                        <a:defRPr sz="9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Variable</a:t>
                      </a:r>
                    </a:p>
                  </a:txBody>
                  <a:tcPr marL="54864" marR="54864" marT="36576" marB="36576" anchor="ctr">
                    <a:solidFill>
                      <a:srgbClr val="0070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Dominant group</a:t>
                      </a:r>
                    </a:p>
                  </a:txBody>
                  <a:tcPr marL="54864" marR="54864" marT="36576" marB="36576" anchor="ctr">
                    <a:solidFill>
                      <a:srgbClr val="0070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Count</a:t>
                      </a:r>
                    </a:p>
                  </a:txBody>
                  <a:tcPr marL="54864" marR="54864" marT="36576" marB="36576" anchor="ctr">
                    <a:solidFill>
                      <a:srgbClr val="0070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Rate</a:t>
                      </a:r>
                    </a:p>
                  </a:txBody>
                  <a:tcPr marL="54864" marR="54864" marT="36576" marB="36576" anchor="ctr">
                    <a:solidFill>
                      <a:srgbClr val="0070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>
                        <a:defRPr sz="930">
                          <a:solidFill>
                            <a:srgbClr val="232D28"/>
                          </a:solidFill>
                          <a:latin typeface="Aptos"/>
                        </a:defRPr>
                      </a:pPr>
                      <a:r>
                        <a:t>Age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232D28"/>
                          </a:solidFill>
                          <a:latin typeface="Aptos"/>
                        </a:defRPr>
                      </a:pPr>
                      <a:r>
                        <a:t>From 20 to 29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232D28"/>
                          </a:solidFill>
                          <a:latin typeface="Aptos"/>
                        </a:defRPr>
                      </a:pPr>
                      <a:r>
                        <a:t>79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232D28"/>
                          </a:solidFill>
                          <a:latin typeface="Aptos"/>
                        </a:defRPr>
                      </a:pPr>
                      <a:r>
                        <a:t>69.9%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>
                        <a:defRPr sz="930">
                          <a:solidFill>
                            <a:srgbClr val="232D28"/>
                          </a:solidFill>
                          <a:latin typeface="Aptos"/>
                        </a:defRPr>
                      </a:pPr>
                      <a:r>
                        <a:t>Status</a:t>
                      </a:r>
                    </a:p>
                  </a:txBody>
                  <a:tcPr marL="54864" marR="54864" marT="36576" marB="36576" anchor="ctr">
                    <a:solidFill>
                      <a:srgbClr val="F8FB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232D28"/>
                          </a:solidFill>
                          <a:latin typeface="Aptos"/>
                        </a:defRPr>
                      </a:pPr>
                      <a:r>
                        <a:t>Employed</a:t>
                      </a:r>
                    </a:p>
                  </a:txBody>
                  <a:tcPr marL="54864" marR="54864" marT="36576" marB="36576" anchor="ctr">
                    <a:solidFill>
                      <a:srgbClr val="F8FB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232D28"/>
                          </a:solidFill>
                          <a:latin typeface="Aptos"/>
                        </a:defRPr>
                      </a:pPr>
                      <a:r>
                        <a:t>58</a:t>
                      </a:r>
                    </a:p>
                  </a:txBody>
                  <a:tcPr marL="54864" marR="54864" marT="36576" marB="36576" anchor="ctr">
                    <a:solidFill>
                      <a:srgbClr val="F8FB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232D28"/>
                          </a:solidFill>
                          <a:latin typeface="Aptos"/>
                        </a:defRPr>
                      </a:pPr>
                      <a:r>
                        <a:t>51.3%</a:t>
                      </a:r>
                    </a:p>
                  </a:txBody>
                  <a:tcPr marL="54864" marR="54864" marT="36576" marB="36576" anchor="ctr">
                    <a:solidFill>
                      <a:srgbClr val="F8F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>
                        <a:defRPr sz="930">
                          <a:solidFill>
                            <a:srgbClr val="232D28"/>
                          </a:solidFill>
                          <a:latin typeface="Aptos"/>
                        </a:defRPr>
                      </a:pPr>
                      <a:r>
                        <a:t>Income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232D28"/>
                          </a:solidFill>
                          <a:latin typeface="Aptos"/>
                        </a:defRPr>
                      </a:pPr>
                      <a:r>
                        <a:t>Less than RM25,000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232D28"/>
                          </a:solidFill>
                          <a:latin typeface="Aptos"/>
                        </a:defRPr>
                      </a:pPr>
                      <a:r>
                        <a:t>65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232D28"/>
                          </a:solidFill>
                          <a:latin typeface="Aptos"/>
                        </a:defRPr>
                      </a:pPr>
                      <a:r>
                        <a:t>57.5%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>
                        <a:defRPr sz="930">
                          <a:solidFill>
                            <a:srgbClr val="232D28"/>
                          </a:solidFill>
                          <a:latin typeface="Aptos"/>
                        </a:defRPr>
                      </a:pPr>
                      <a:r>
                        <a:t>Membership</a:t>
                      </a:r>
                    </a:p>
                  </a:txBody>
                  <a:tcPr marL="54864" marR="54864" marT="36576" marB="36576" anchor="ctr">
                    <a:solidFill>
                      <a:srgbClr val="F8FB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232D28"/>
                          </a:solidFill>
                          <a:latin typeface="Aptos"/>
                        </a:defRPr>
                      </a:pPr>
                      <a:r>
                        <a:t>Yes</a:t>
                      </a:r>
                    </a:p>
                  </a:txBody>
                  <a:tcPr marL="54864" marR="54864" marT="36576" marB="36576" anchor="ctr">
                    <a:solidFill>
                      <a:srgbClr val="F8FB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232D28"/>
                          </a:solidFill>
                          <a:latin typeface="Aptos"/>
                        </a:defRPr>
                      </a:pPr>
                      <a:r>
                        <a:t>60</a:t>
                      </a:r>
                    </a:p>
                  </a:txBody>
                  <a:tcPr marL="54864" marR="54864" marT="36576" marB="36576" anchor="ctr">
                    <a:solidFill>
                      <a:srgbClr val="F8FB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232D28"/>
                          </a:solidFill>
                          <a:latin typeface="Aptos"/>
                        </a:defRPr>
                      </a:pPr>
                      <a:r>
                        <a:t>53.1%</a:t>
                      </a:r>
                    </a:p>
                  </a:txBody>
                  <a:tcPr marL="54864" marR="54864" marT="36576" marB="36576" anchor="ctr">
                    <a:solidFill>
                      <a:srgbClr val="F8F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>
                        <a:defRPr sz="930">
                          <a:solidFill>
                            <a:srgbClr val="232D28"/>
                          </a:solidFill>
                          <a:latin typeface="Aptos"/>
                        </a:defRPr>
                      </a:pPr>
                      <a:r>
                        <a:t>Spend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232D28"/>
                          </a:solidFill>
                          <a:latin typeface="Aptos"/>
                        </a:defRPr>
                      </a:pPr>
                      <a:r>
                        <a:t>Less than RM20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232D28"/>
                          </a:solidFill>
                          <a:latin typeface="Aptos"/>
                        </a:defRPr>
                      </a:pPr>
                      <a:r>
                        <a:t>56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232D28"/>
                          </a:solidFill>
                          <a:latin typeface="Aptos"/>
                        </a:defRPr>
                      </a:pPr>
                      <a:r>
                        <a:t>49.6%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68680" y="4800600"/>
            <a:ext cx="10424160" cy="685800"/>
          </a:xfrm>
          <a:prstGeom prst="roundRect">
            <a:avLst/>
          </a:prstGeom>
          <a:solidFill>
            <a:srgbClr val="F1F8F4"/>
          </a:solidFill>
          <a:ln w="12700">
            <a:solidFill>
              <a:srgbClr val="DA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37160" rtlCol="0" anchor="ctr"/>
          <a:lstStyle/>
          <a:p>
            <a:pPr algn="ctr">
              <a:defRPr sz="1300" b="1">
                <a:solidFill>
                  <a:srgbClr val="004C33"/>
                </a:solidFill>
                <a:latin typeface="Aptos Display"/>
              </a:defRPr>
            </a:pPr>
            <a:r>
              <a:rPr sz="1400" dirty="0"/>
              <a:t>Context for interpretation</a:t>
            </a:r>
          </a:p>
          <a:p>
            <a:pPr algn="ctr">
              <a:spcBef>
                <a:spcPts val="400"/>
              </a:spcBef>
              <a:defRPr sz="1150">
                <a:solidFill>
                  <a:srgbClr val="232D28"/>
                </a:solidFill>
                <a:latin typeface="Aptos"/>
              </a:defRPr>
            </a:pPr>
            <a:r>
              <a:rPr sz="1400" dirty="0" err="1"/>
              <a:t>Mẫu</a:t>
            </a:r>
            <a:r>
              <a:rPr sz="1400" dirty="0"/>
              <a:t> </a:t>
            </a:r>
            <a:r>
              <a:rPr sz="1400" dirty="0" err="1"/>
              <a:t>khảo</a:t>
            </a:r>
            <a:r>
              <a:rPr sz="1400" dirty="0"/>
              <a:t> </a:t>
            </a:r>
            <a:r>
              <a:rPr sz="1400" dirty="0" err="1"/>
              <a:t>sát</a:t>
            </a:r>
            <a:r>
              <a:rPr sz="1400" dirty="0"/>
              <a:t> </a:t>
            </a:r>
            <a:r>
              <a:rPr sz="1400" dirty="0" err="1"/>
              <a:t>nghiêng</a:t>
            </a:r>
            <a:r>
              <a:rPr sz="1400" dirty="0"/>
              <a:t> </a:t>
            </a:r>
            <a:r>
              <a:rPr sz="1400" dirty="0" err="1"/>
              <a:t>về</a:t>
            </a:r>
            <a:r>
              <a:rPr sz="1400" dirty="0"/>
              <a:t> </a:t>
            </a:r>
            <a:r>
              <a:rPr sz="1400" dirty="0" err="1"/>
              <a:t>khách</a:t>
            </a:r>
            <a:r>
              <a:rPr sz="1400" dirty="0"/>
              <a:t> </a:t>
            </a:r>
            <a:r>
              <a:rPr sz="1400" dirty="0" err="1"/>
              <a:t>trẻ</a:t>
            </a:r>
            <a:r>
              <a:rPr sz="1400" dirty="0"/>
              <a:t>, </a:t>
            </a:r>
            <a:r>
              <a:rPr sz="1400" dirty="0" err="1"/>
              <a:t>thu</a:t>
            </a:r>
            <a:r>
              <a:rPr sz="1400" dirty="0"/>
              <a:t> </a:t>
            </a:r>
            <a:r>
              <a:rPr sz="1400" dirty="0" err="1"/>
              <a:t>nhập</a:t>
            </a:r>
            <a:r>
              <a:rPr sz="1400" dirty="0"/>
              <a:t> </a:t>
            </a:r>
            <a:r>
              <a:rPr sz="1400" dirty="0" err="1"/>
              <a:t>thấp</a:t>
            </a:r>
            <a:r>
              <a:rPr sz="1400" dirty="0"/>
              <a:t> </a:t>
            </a:r>
            <a:r>
              <a:rPr sz="1400" dirty="0" err="1"/>
              <a:t>hơn</a:t>
            </a:r>
            <a:r>
              <a:rPr sz="1400" dirty="0"/>
              <a:t> </a:t>
            </a:r>
            <a:r>
              <a:rPr sz="1400" dirty="0" err="1"/>
              <a:t>và</a:t>
            </a:r>
            <a:r>
              <a:rPr sz="1400" dirty="0"/>
              <a:t> </a:t>
            </a:r>
            <a:r>
              <a:rPr sz="1400" dirty="0" err="1"/>
              <a:t>có</a:t>
            </a:r>
            <a:r>
              <a:rPr sz="1400" dirty="0"/>
              <a:t> </a:t>
            </a:r>
            <a:r>
              <a:rPr sz="1400" dirty="0" err="1"/>
              <a:t>nhiều</a:t>
            </a:r>
            <a:r>
              <a:rPr sz="1400" dirty="0"/>
              <a:t> </a:t>
            </a:r>
            <a:r>
              <a:rPr sz="1400" dirty="0" err="1"/>
              <a:t>khách</a:t>
            </a:r>
            <a:r>
              <a:rPr sz="1400" dirty="0"/>
              <a:t> </a:t>
            </a:r>
            <a:r>
              <a:rPr sz="1400" dirty="0" err="1"/>
              <a:t>ít</a:t>
            </a:r>
            <a:r>
              <a:rPr sz="1400" dirty="0"/>
              <a:t> quay </a:t>
            </a:r>
            <a:r>
              <a:rPr sz="1400" dirty="0" err="1"/>
              <a:t>lại</a:t>
            </a:r>
            <a:r>
              <a:rPr sz="1400" dirty="0"/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593580"/>
            <a:ext cx="8961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4C33"/>
                </a:solidFill>
                <a:latin typeface="Aptos Display"/>
              </a:defRPr>
            </a:pPr>
            <a:r>
              <a:rPr dirty="0"/>
              <a:t>Key Insight 1 — Spending Is Strongly Associated with Return Group</a:t>
            </a:r>
          </a:p>
        </p:txBody>
      </p:sp>
      <p:pic>
        <p:nvPicPr>
          <p:cNvPr id="5" name="Picture 4" descr="spend_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51743"/>
            <a:ext cx="6126480" cy="361188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1829437"/>
              </p:ext>
            </p:extLst>
          </p:nvPr>
        </p:nvGraphicFramePr>
        <p:xfrm>
          <a:off x="7086600" y="1780343"/>
          <a:ext cx="379476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SpendPurchase</a:t>
                      </a:r>
                    </a:p>
                  </a:txBody>
                  <a:tcPr marL="54864" marR="54864" marT="36576" marB="36576" anchor="ctr">
                    <a:solidFill>
                      <a:srgbClr val="0070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Frequent rate</a:t>
                      </a:r>
                    </a:p>
                  </a:txBody>
                  <a:tcPr marL="54864" marR="54864" marT="36576" marB="36576" anchor="ctr">
                    <a:solidFill>
                      <a:srgbClr val="0070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n</a:t>
                      </a:r>
                    </a:p>
                  </a:txBody>
                  <a:tcPr marL="54864" marR="54864" marT="36576" marB="36576" anchor="ctr">
                    <a:solidFill>
                      <a:srgbClr val="0070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32D28"/>
                          </a:solidFill>
                          <a:latin typeface="Aptos"/>
                        </a:defRPr>
                      </a:pPr>
                      <a:r>
                        <a:t>Zero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D28"/>
                          </a:solidFill>
                          <a:latin typeface="Aptos"/>
                        </a:defRPr>
                      </a:pPr>
                      <a:r>
                        <a:t>0%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D28"/>
                          </a:solidFill>
                          <a:latin typeface="Aptos"/>
                        </a:defRPr>
                      </a:pPr>
                      <a:r>
                        <a:t>5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32D28"/>
                          </a:solidFill>
                          <a:latin typeface="Aptos"/>
                        </a:defRPr>
                      </a:pPr>
                      <a:r>
                        <a:t>Less than RM20</a:t>
                      </a:r>
                    </a:p>
                  </a:txBody>
                  <a:tcPr marL="54864" marR="54864" marT="36576" marB="36576" anchor="ctr">
                    <a:solidFill>
                      <a:srgbClr val="F8FB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D28"/>
                          </a:solidFill>
                          <a:latin typeface="Aptos"/>
                        </a:defRPr>
                      </a:pPr>
                      <a:r>
                        <a:t>16.07%</a:t>
                      </a:r>
                    </a:p>
                  </a:txBody>
                  <a:tcPr marL="54864" marR="54864" marT="36576" marB="36576" anchor="ctr">
                    <a:solidFill>
                      <a:srgbClr val="F8FB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D28"/>
                          </a:solidFill>
                          <a:latin typeface="Aptos"/>
                        </a:defRPr>
                      </a:pPr>
                      <a:r>
                        <a:t>56</a:t>
                      </a:r>
                    </a:p>
                  </a:txBody>
                  <a:tcPr marL="54864" marR="54864" marT="36576" marB="36576" anchor="ctr">
                    <a:solidFill>
                      <a:srgbClr val="F8F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32D28"/>
                          </a:solidFill>
                          <a:latin typeface="Aptos"/>
                        </a:defRPr>
                      </a:pPr>
                      <a:r>
                        <a:t>RM20–RM40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D28"/>
                          </a:solidFill>
                          <a:latin typeface="Aptos"/>
                        </a:defRPr>
                      </a:pPr>
                      <a:r>
                        <a:t>53.33%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D28"/>
                          </a:solidFill>
                          <a:latin typeface="Aptos"/>
                        </a:defRPr>
                      </a:pPr>
                      <a:r>
                        <a:t>45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32D28"/>
                          </a:solidFill>
                          <a:latin typeface="Aptos"/>
                        </a:defRPr>
                      </a:pPr>
                      <a:r>
                        <a:t>More than RM40</a:t>
                      </a:r>
                    </a:p>
                  </a:txBody>
                  <a:tcPr marL="54864" marR="54864" marT="36576" marB="36576" anchor="ctr">
                    <a:solidFill>
                      <a:srgbClr val="F8FB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D28"/>
                          </a:solidFill>
                          <a:latin typeface="Aptos"/>
                        </a:defRPr>
                      </a:pPr>
                      <a:r>
                        <a:t>57.14%</a:t>
                      </a:r>
                    </a:p>
                  </a:txBody>
                  <a:tcPr marL="54864" marR="54864" marT="36576" marB="36576" anchor="ctr">
                    <a:solidFill>
                      <a:srgbClr val="F8FB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D28"/>
                          </a:solidFill>
                          <a:latin typeface="Aptos"/>
                        </a:defRPr>
                      </a:pPr>
                      <a:r>
                        <a:t>7</a:t>
                      </a:r>
                    </a:p>
                  </a:txBody>
                  <a:tcPr marL="54864" marR="54864" marT="36576" marB="36576" anchor="ctr">
                    <a:solidFill>
                      <a:srgbClr val="F8F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086600" y="4203503"/>
            <a:ext cx="4160520" cy="1234440"/>
          </a:xfrm>
          <a:prstGeom prst="roundRect">
            <a:avLst/>
          </a:prstGeom>
          <a:solidFill>
            <a:srgbClr val="F1F8F4"/>
          </a:solidFill>
          <a:ln w="12700">
            <a:solidFill>
              <a:srgbClr val="DA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37160" rtlCol="0" anchor="ctr"/>
          <a:lstStyle/>
          <a:p>
            <a:pPr algn="ctr">
              <a:defRPr sz="1300" b="1">
                <a:solidFill>
                  <a:srgbClr val="004C33"/>
                </a:solidFill>
                <a:latin typeface="Aptos Display"/>
              </a:defRPr>
            </a:pPr>
            <a:r>
              <a:rPr sz="1400"/>
              <a:t>Insight</a:t>
            </a:r>
          </a:p>
          <a:p>
            <a:pPr>
              <a:spcBef>
                <a:spcPts val="400"/>
              </a:spcBef>
              <a:defRPr sz="1150">
                <a:solidFill>
                  <a:srgbClr val="232D28"/>
                </a:solidFill>
                <a:latin typeface="Aptos"/>
              </a:defRPr>
            </a:pPr>
            <a:r>
              <a:rPr sz="1400"/>
              <a:t>Nhóm chi tiêu trung bình/cao có tỷ lệ Frequent cao hơn rõ rệt so với nhóm chi tiêu thấp. RM20–RM40 là nhóm đáng chú ý vì vừa có frequent rate cao vừa có n hợp lý.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585764"/>
            <a:ext cx="8961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4C33"/>
                </a:solidFill>
                <a:latin typeface="Aptos Display"/>
              </a:defRPr>
            </a:pPr>
            <a:r>
              <a:t>Key Insight 2 — Membership Card Reflects Customer Engagement</a:t>
            </a:r>
          </a:p>
        </p:txBody>
      </p:sp>
      <p:pic>
        <p:nvPicPr>
          <p:cNvPr id="5" name="Picture 4" descr="membersh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45527"/>
            <a:ext cx="6035040" cy="35661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995160" y="1919847"/>
            <a:ext cx="3886200" cy="1005840"/>
          </a:xfrm>
          <a:prstGeom prst="roundRect">
            <a:avLst/>
          </a:prstGeom>
          <a:solidFill>
            <a:srgbClr val="F1F8F4"/>
          </a:solidFill>
          <a:ln w="12700">
            <a:solidFill>
              <a:srgbClr val="DA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37160" rtlCol="0" anchor="ctr"/>
          <a:lstStyle/>
          <a:p>
            <a:pPr algn="ctr">
              <a:defRPr sz="1300" b="1">
                <a:solidFill>
                  <a:srgbClr val="004C33"/>
                </a:solidFill>
                <a:latin typeface="Aptos Display"/>
              </a:defRPr>
            </a:pPr>
            <a:r>
              <a:rPr sz="1400"/>
              <a:t>Membership Yes</a:t>
            </a:r>
          </a:p>
          <a:p>
            <a:pPr>
              <a:spcBef>
                <a:spcPts val="400"/>
              </a:spcBef>
              <a:defRPr sz="1150">
                <a:solidFill>
                  <a:srgbClr val="232D28"/>
                </a:solidFill>
                <a:latin typeface="Aptos"/>
              </a:defRPr>
            </a:pPr>
            <a:r>
              <a:rPr sz="1400"/>
              <a:t>Frequent rate: 45.0%</a:t>
            </a:r>
            <a:br>
              <a:rPr sz="1400"/>
            </a:br>
            <a:r>
              <a:rPr sz="1400"/>
              <a:t>27/60 khách thuộc nhóm Frequent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95160" y="3154287"/>
            <a:ext cx="38862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37160" rtlCol="0" anchor="ctr"/>
          <a:lstStyle/>
          <a:p>
            <a:pPr algn="ctr">
              <a:defRPr sz="1300" b="1">
                <a:solidFill>
                  <a:srgbClr val="004C33"/>
                </a:solidFill>
                <a:latin typeface="Aptos Display"/>
              </a:defRPr>
            </a:pPr>
            <a:r>
              <a:rPr sz="1400"/>
              <a:t>Membership No</a:t>
            </a:r>
          </a:p>
          <a:p>
            <a:pPr>
              <a:spcBef>
                <a:spcPts val="400"/>
              </a:spcBef>
              <a:defRPr sz="1150">
                <a:solidFill>
                  <a:srgbClr val="232D28"/>
                </a:solidFill>
                <a:latin typeface="Aptos"/>
              </a:defRPr>
            </a:pPr>
            <a:r>
              <a:rPr sz="1400"/>
              <a:t>Frequent rate: 18.87%</a:t>
            </a:r>
            <a:br>
              <a:rPr sz="1400"/>
            </a:br>
            <a:r>
              <a:rPr sz="1400"/>
              <a:t>10/53 khách thuộc nhóm Frequent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95160" y="4388727"/>
            <a:ext cx="38862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37160" rtlCol="0" anchor="ctr"/>
          <a:lstStyle/>
          <a:p>
            <a:pPr algn="ctr">
              <a:defRPr sz="1300" b="1">
                <a:solidFill>
                  <a:srgbClr val="004C33"/>
                </a:solidFill>
                <a:latin typeface="Aptos Display"/>
              </a:defRPr>
            </a:pPr>
            <a:r>
              <a:rPr sz="1400"/>
              <a:t>Group comparison</a:t>
            </a:r>
          </a:p>
          <a:p>
            <a:pPr>
              <a:spcBef>
                <a:spcPts val="400"/>
              </a:spcBef>
              <a:defRPr sz="1150">
                <a:solidFill>
                  <a:srgbClr val="232D28"/>
                </a:solidFill>
                <a:latin typeface="Aptos"/>
              </a:defRPr>
            </a:pPr>
            <a:r>
              <a:rPr sz="1400"/>
              <a:t>Frequent group có membership_rate 0.73, trong khi Infrequent group là 0.43.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01394"/>
            <a:ext cx="8961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4C33"/>
                </a:solidFill>
                <a:latin typeface="Aptos Display"/>
              </a:defRPr>
            </a:pPr>
            <a:r>
              <a:t>Key Insight 3 — Time Spent and Income Add Context</a:t>
            </a:r>
          </a:p>
        </p:txBody>
      </p:sp>
      <p:pic>
        <p:nvPicPr>
          <p:cNvPr id="5" name="Picture 4" descr="time_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36742"/>
            <a:ext cx="5394960" cy="3017520"/>
          </a:xfrm>
          <a:prstGeom prst="rect">
            <a:avLst/>
          </a:prstGeom>
        </p:spPr>
      </p:pic>
      <p:pic>
        <p:nvPicPr>
          <p:cNvPr id="6" name="Picture 5" descr="income_r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336742"/>
            <a:ext cx="5394960" cy="3017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68680" y="4610293"/>
            <a:ext cx="5166360" cy="1063675"/>
          </a:xfrm>
          <a:prstGeom prst="roundRect">
            <a:avLst/>
          </a:prstGeom>
          <a:solidFill>
            <a:srgbClr val="F1F8F4"/>
          </a:solidFill>
          <a:ln w="12700">
            <a:solidFill>
              <a:srgbClr val="DA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37160" rtlCol="0" anchor="ctr"/>
          <a:lstStyle/>
          <a:p>
            <a:pPr algn="ctr">
              <a:defRPr sz="1300" b="1">
                <a:solidFill>
                  <a:srgbClr val="004C33"/>
                </a:solidFill>
                <a:latin typeface="Aptos Display"/>
              </a:defRPr>
            </a:pPr>
            <a:r>
              <a:rPr sz="1400" dirty="0" err="1"/>
              <a:t>TimeSpend</a:t>
            </a:r>
            <a:r>
              <a:rPr sz="1400" dirty="0"/>
              <a:t> insight</a:t>
            </a:r>
          </a:p>
          <a:p>
            <a:pPr>
              <a:spcBef>
                <a:spcPts val="400"/>
              </a:spcBef>
              <a:defRPr sz="1150">
                <a:solidFill>
                  <a:srgbClr val="232D28"/>
                </a:solidFill>
                <a:latin typeface="Aptos"/>
              </a:defRPr>
            </a:pPr>
            <a:r>
              <a:rPr sz="1400" dirty="0" err="1"/>
              <a:t>Khách</a:t>
            </a:r>
            <a:r>
              <a:rPr sz="1400" dirty="0"/>
              <a:t> ở </a:t>
            </a:r>
            <a:r>
              <a:rPr sz="1400" dirty="0" err="1"/>
              <a:t>lại</a:t>
            </a:r>
            <a:r>
              <a:rPr sz="1400" dirty="0"/>
              <a:t> 1–2 hours </a:t>
            </a:r>
            <a:r>
              <a:rPr sz="1400" dirty="0" err="1"/>
              <a:t>có</a:t>
            </a:r>
            <a:r>
              <a:rPr sz="1400" dirty="0"/>
              <a:t> frequent rate 58.33% (n=12), </a:t>
            </a:r>
            <a:r>
              <a:rPr sz="1400" dirty="0" err="1"/>
              <a:t>cao</a:t>
            </a:r>
            <a:r>
              <a:rPr sz="1400" dirty="0"/>
              <a:t> </a:t>
            </a:r>
            <a:r>
              <a:rPr sz="1400" dirty="0" err="1"/>
              <a:t>hơn</a:t>
            </a:r>
            <a:r>
              <a:rPr sz="1400" dirty="0"/>
              <a:t> </a:t>
            </a:r>
            <a:r>
              <a:rPr sz="1400" dirty="0" err="1"/>
              <a:t>nhóm</a:t>
            </a:r>
            <a:r>
              <a:rPr sz="1400" dirty="0"/>
              <a:t> below 30 minutes 25.0% (n=64).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4610294"/>
            <a:ext cx="5166360" cy="1063674"/>
          </a:xfrm>
          <a:prstGeom prst="roundRect">
            <a:avLst/>
          </a:prstGeom>
          <a:solidFill>
            <a:srgbClr val="F1F8F4"/>
          </a:solidFill>
          <a:ln w="12700">
            <a:solidFill>
              <a:srgbClr val="DA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37160" rtlCol="0" anchor="ctr"/>
          <a:lstStyle/>
          <a:p>
            <a:pPr algn="ctr">
              <a:defRPr sz="1300" b="1">
                <a:solidFill>
                  <a:srgbClr val="004C33"/>
                </a:solidFill>
                <a:latin typeface="Aptos Display"/>
              </a:defRPr>
            </a:pPr>
            <a:r>
              <a:rPr sz="1400" dirty="0"/>
              <a:t>Income insight</a:t>
            </a:r>
          </a:p>
          <a:p>
            <a:pPr>
              <a:spcBef>
                <a:spcPts val="400"/>
              </a:spcBef>
              <a:defRPr sz="1150">
                <a:solidFill>
                  <a:srgbClr val="232D28"/>
                </a:solidFill>
                <a:latin typeface="Aptos"/>
              </a:defRPr>
            </a:pPr>
            <a:r>
              <a:rPr sz="1400" dirty="0" err="1"/>
              <a:t>Nhóm</a:t>
            </a:r>
            <a:r>
              <a:rPr sz="1400" dirty="0"/>
              <a:t> RM50,000–RM100,000 </a:t>
            </a:r>
            <a:r>
              <a:rPr sz="1400" dirty="0" err="1"/>
              <a:t>có</a:t>
            </a:r>
            <a:r>
              <a:rPr sz="1400" dirty="0"/>
              <a:t> frequent rate 52.94% (n=17), </a:t>
            </a:r>
            <a:r>
              <a:rPr sz="1400" dirty="0" err="1"/>
              <a:t>trong</a:t>
            </a:r>
            <a:r>
              <a:rPr sz="1400" dirty="0"/>
              <a:t> </a:t>
            </a:r>
            <a:r>
              <a:rPr sz="1400" dirty="0" err="1"/>
              <a:t>khi</a:t>
            </a:r>
            <a:r>
              <a:rPr sz="1400" dirty="0"/>
              <a:t> </a:t>
            </a:r>
            <a:r>
              <a:rPr sz="1400" dirty="0" err="1"/>
              <a:t>nhóm</a:t>
            </a:r>
            <a:r>
              <a:rPr sz="1400" dirty="0"/>
              <a:t> &lt;RM25,000 </a:t>
            </a:r>
            <a:r>
              <a:rPr sz="1400" dirty="0" err="1"/>
              <a:t>là</a:t>
            </a:r>
            <a:r>
              <a:rPr sz="1400" dirty="0"/>
              <a:t> 24.62% (n=65).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702999"/>
            <a:ext cx="8961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4C33"/>
                </a:solidFill>
                <a:latin typeface="Aptos Display"/>
              </a:defRPr>
            </a:pPr>
            <a:r>
              <a:t>Status Deep Dive — Student, Employed, Self-employed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6628342"/>
              </p:ext>
            </p:extLst>
          </p:nvPr>
        </p:nvGraphicFramePr>
        <p:xfrm>
          <a:off x="502920" y="1708839"/>
          <a:ext cx="94183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algn="l">
                        <a:defRPr sz="94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Segment</a:t>
                      </a:r>
                    </a:p>
                  </a:txBody>
                  <a:tcPr marL="54864" marR="54864" marT="36576" marB="36576" anchor="ctr">
                    <a:solidFill>
                      <a:srgbClr val="0070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4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n</a:t>
                      </a:r>
                    </a:p>
                  </a:txBody>
                  <a:tcPr marL="54864" marR="54864" marT="36576" marB="36576" anchor="ctr">
                    <a:solidFill>
                      <a:srgbClr val="0070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4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Frequent rate</a:t>
                      </a:r>
                    </a:p>
                  </a:txBody>
                  <a:tcPr marL="54864" marR="54864" marT="36576" marB="36576" anchor="ctr">
                    <a:solidFill>
                      <a:srgbClr val="0070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4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Membership yes</a:t>
                      </a:r>
                    </a:p>
                  </a:txBody>
                  <a:tcPr marL="54864" marR="54864" marT="36576" marB="36576" anchor="ctr">
                    <a:solidFill>
                      <a:srgbClr val="0070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4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Spending profile</a:t>
                      </a:r>
                    </a:p>
                  </a:txBody>
                  <a:tcPr marL="54864" marR="54864" marT="36576" marB="36576" anchor="ctr">
                    <a:solidFill>
                      <a:srgbClr val="0070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4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Interpretation</a:t>
                      </a:r>
                    </a:p>
                  </a:txBody>
                  <a:tcPr marL="54864" marR="54864" marT="36576" marB="36576" anchor="ctr">
                    <a:solidFill>
                      <a:srgbClr val="0070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>
                        <a:defRPr sz="940">
                          <a:solidFill>
                            <a:srgbClr val="232D28"/>
                          </a:solidFill>
                          <a:latin typeface="Aptos"/>
                        </a:defRPr>
                      </a:pPr>
                      <a:r>
                        <a:t>Student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40">
                          <a:solidFill>
                            <a:srgbClr val="232D28"/>
                          </a:solidFill>
                          <a:latin typeface="Aptos"/>
                        </a:defRPr>
                      </a:pPr>
                      <a:r>
                        <a:t>37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40">
                          <a:solidFill>
                            <a:srgbClr val="232D28"/>
                          </a:solidFill>
                          <a:latin typeface="Aptos"/>
                        </a:defRPr>
                      </a:pPr>
                      <a:r>
                        <a:t>18.92%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40">
                          <a:solidFill>
                            <a:srgbClr val="232D28"/>
                          </a:solidFill>
                          <a:latin typeface="Aptos"/>
                        </a:defRPr>
                      </a:pPr>
                      <a:r>
                        <a:t>32.43%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40">
                          <a:solidFill>
                            <a:srgbClr val="232D28"/>
                          </a:solidFill>
                          <a:latin typeface="Aptos"/>
                        </a:defRPr>
                      </a:pPr>
                      <a:r>
                        <a:t>67.6% &lt;RM20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40">
                          <a:solidFill>
                            <a:srgbClr val="232D28"/>
                          </a:solidFill>
                          <a:latin typeface="Aptos"/>
                        </a:defRPr>
                      </a:pPr>
                      <a:r>
                        <a:t>Nhóm lớn nhưng quay lại chưa cao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>
                        <a:defRPr sz="940">
                          <a:solidFill>
                            <a:srgbClr val="232D28"/>
                          </a:solidFill>
                          <a:latin typeface="Aptos"/>
                        </a:defRPr>
                      </a:pPr>
                      <a:r>
                        <a:t>Employed</a:t>
                      </a:r>
                    </a:p>
                  </a:txBody>
                  <a:tcPr marL="54864" marR="54864" marT="36576" marB="36576" anchor="ctr">
                    <a:solidFill>
                      <a:srgbClr val="F8FB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40">
                          <a:solidFill>
                            <a:srgbClr val="232D28"/>
                          </a:solidFill>
                          <a:latin typeface="Aptos"/>
                        </a:defRPr>
                      </a:pPr>
                      <a:r>
                        <a:t>58</a:t>
                      </a:r>
                    </a:p>
                  </a:txBody>
                  <a:tcPr marL="54864" marR="54864" marT="36576" marB="36576" anchor="ctr">
                    <a:solidFill>
                      <a:srgbClr val="F8FB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40">
                          <a:solidFill>
                            <a:srgbClr val="232D28"/>
                          </a:solidFill>
                          <a:latin typeface="Aptos"/>
                        </a:defRPr>
                      </a:pPr>
                      <a:r>
                        <a:t>37.93%</a:t>
                      </a:r>
                    </a:p>
                  </a:txBody>
                  <a:tcPr marL="54864" marR="54864" marT="36576" marB="36576" anchor="ctr">
                    <a:solidFill>
                      <a:srgbClr val="F8FB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40">
                          <a:solidFill>
                            <a:srgbClr val="232D28"/>
                          </a:solidFill>
                          <a:latin typeface="Aptos"/>
                        </a:defRPr>
                      </a:pPr>
                      <a:r>
                        <a:t>63.79%</a:t>
                      </a:r>
                    </a:p>
                  </a:txBody>
                  <a:tcPr marL="54864" marR="54864" marT="36576" marB="36576" anchor="ctr">
                    <a:solidFill>
                      <a:srgbClr val="F8FB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40">
                          <a:solidFill>
                            <a:srgbClr val="232D28"/>
                          </a:solidFill>
                          <a:latin typeface="Aptos"/>
                        </a:defRPr>
                      </a:pPr>
                      <a:r>
                        <a:t>50.0% RM20–40</a:t>
                      </a:r>
                    </a:p>
                  </a:txBody>
                  <a:tcPr marL="54864" marR="54864" marT="36576" marB="36576" anchor="ctr">
                    <a:solidFill>
                      <a:srgbClr val="F8FB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40">
                          <a:solidFill>
                            <a:srgbClr val="232D28"/>
                          </a:solidFill>
                          <a:latin typeface="Aptos"/>
                        </a:defRPr>
                      </a:pPr>
                      <a:r>
                        <a:t>Nhóm ổn định, hợp loyalty</a:t>
                      </a:r>
                    </a:p>
                  </a:txBody>
                  <a:tcPr marL="54864" marR="54864" marT="36576" marB="36576" anchor="ctr">
                    <a:solidFill>
                      <a:srgbClr val="F8F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>
                        <a:defRPr sz="940">
                          <a:solidFill>
                            <a:srgbClr val="232D28"/>
                          </a:solidFill>
                          <a:latin typeface="Aptos"/>
                        </a:defRPr>
                      </a:pPr>
                      <a:r>
                        <a:t>Self-employed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40">
                          <a:solidFill>
                            <a:srgbClr val="232D28"/>
                          </a:solidFill>
                          <a:latin typeface="Aptos"/>
                        </a:defRPr>
                      </a:pPr>
                      <a:r>
                        <a:t>16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40">
                          <a:solidFill>
                            <a:srgbClr val="232D28"/>
                          </a:solidFill>
                          <a:latin typeface="Aptos"/>
                        </a:defRPr>
                      </a:pPr>
                      <a:r>
                        <a:t>43.75%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40">
                          <a:solidFill>
                            <a:srgbClr val="232D28"/>
                          </a:solidFill>
                          <a:latin typeface="Aptos"/>
                        </a:defRPr>
                      </a:pPr>
                      <a:r>
                        <a:t>62.5%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40">
                          <a:solidFill>
                            <a:srgbClr val="232D28"/>
                          </a:solidFill>
                          <a:latin typeface="Aptos"/>
                        </a:defRPr>
                      </a:pPr>
                      <a:r>
                        <a:t>Pattern tích cực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40">
                          <a:solidFill>
                            <a:srgbClr val="232D28"/>
                          </a:solidFill>
                          <a:latin typeface="Aptos"/>
                        </a:defRPr>
                      </a:pPr>
                      <a:r>
                        <a:t>Tiềm năng nhưng mẫu nhỏ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4543479"/>
            <a:ext cx="34290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37160" rtlCol="0" anchor="ctr"/>
          <a:lstStyle/>
          <a:p>
            <a:pPr algn="ctr">
              <a:defRPr sz="1300" b="1">
                <a:solidFill>
                  <a:srgbClr val="004C33"/>
                </a:solidFill>
                <a:latin typeface="Aptos Display"/>
              </a:defRPr>
            </a:pPr>
            <a:r>
              <a:rPr sz="1400"/>
              <a:t>Student</a:t>
            </a:r>
          </a:p>
          <a:p>
            <a:pPr>
              <a:spcBef>
                <a:spcPts val="400"/>
              </a:spcBef>
              <a:defRPr sz="1150">
                <a:solidFill>
                  <a:srgbClr val="232D28"/>
                </a:solidFill>
                <a:latin typeface="Aptos"/>
              </a:defRPr>
            </a:pPr>
            <a:r>
              <a:rPr sz="1400"/>
              <a:t>Thu nhập chủ yếu &lt;RM25,000, spend thấp và membership thấp → cần ưu đãi dễ tiếp cận.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4543479"/>
            <a:ext cx="3429000" cy="1005840"/>
          </a:xfrm>
          <a:prstGeom prst="roundRect">
            <a:avLst/>
          </a:prstGeom>
          <a:solidFill>
            <a:srgbClr val="F1F8F4"/>
          </a:solidFill>
          <a:ln w="12700">
            <a:solidFill>
              <a:srgbClr val="DA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37160" rtlCol="0" anchor="ctr"/>
          <a:lstStyle/>
          <a:p>
            <a:pPr algn="ctr">
              <a:defRPr sz="1300" b="1">
                <a:solidFill>
                  <a:srgbClr val="004C33"/>
                </a:solidFill>
                <a:latin typeface="Aptos Display"/>
              </a:defRPr>
            </a:pPr>
            <a:r>
              <a:rPr sz="1400"/>
              <a:t>Employed</a:t>
            </a:r>
          </a:p>
          <a:p>
            <a:pPr>
              <a:spcBef>
                <a:spcPts val="400"/>
              </a:spcBef>
              <a:defRPr sz="1150">
                <a:solidFill>
                  <a:srgbClr val="232D28"/>
                </a:solidFill>
                <a:latin typeface="Aptos"/>
              </a:defRPr>
            </a:pPr>
            <a:r>
              <a:rPr sz="1400"/>
              <a:t>Nhóm lớn nhất, chi tiêu RM20–40 khá rõ → phù hợp reward định kỳ.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4543479"/>
            <a:ext cx="34290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37160" rtlCol="0" anchor="ctr"/>
          <a:lstStyle/>
          <a:p>
            <a:pPr algn="ctr">
              <a:defRPr sz="1300" b="1">
                <a:solidFill>
                  <a:srgbClr val="004C33"/>
                </a:solidFill>
                <a:latin typeface="Aptos Display"/>
              </a:defRPr>
            </a:pPr>
            <a:r>
              <a:rPr sz="1400"/>
              <a:t>Self-employed</a:t>
            </a:r>
          </a:p>
          <a:p>
            <a:pPr>
              <a:spcBef>
                <a:spcPts val="400"/>
              </a:spcBef>
              <a:defRPr sz="1150">
                <a:solidFill>
                  <a:srgbClr val="232D28"/>
                </a:solidFill>
                <a:latin typeface="Aptos"/>
              </a:defRPr>
            </a:pPr>
            <a:r>
              <a:rPr sz="1400"/>
              <a:t>Frequent rate cao nhất trong 3 nhóm, nhưng n=16 nên chỉ xem là nhóm tiềm năng.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820224"/>
            <a:ext cx="8961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4C33"/>
                </a:solidFill>
                <a:latin typeface="Aptos Display"/>
              </a:defRPr>
            </a:pPr>
            <a:r>
              <a:t>Mixed or Weak Patterns — What Not to Overclaim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3166962"/>
              </p:ext>
            </p:extLst>
          </p:nvPr>
        </p:nvGraphicFramePr>
        <p:xfrm>
          <a:off x="548640" y="1853028"/>
          <a:ext cx="1101852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9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5780">
                <a:tc>
                  <a:txBody>
                    <a:bodyPr/>
                    <a:lstStyle/>
                    <a:p>
                      <a:pPr algn="l">
                        <a:defRPr sz="91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Evidence level</a:t>
                      </a:r>
                    </a:p>
                  </a:txBody>
                  <a:tcPr marL="54864" marR="54864" marT="36576" marB="36576" anchor="ctr">
                    <a:solidFill>
                      <a:srgbClr val="0070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Variables</a:t>
                      </a:r>
                    </a:p>
                  </a:txBody>
                  <a:tcPr marL="54864" marR="54864" marT="36576" marB="36576" anchor="ctr">
                    <a:solidFill>
                      <a:srgbClr val="0070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Observed pattern</a:t>
                      </a:r>
                    </a:p>
                  </a:txBody>
                  <a:tcPr marL="54864" marR="54864" marT="36576" marB="36576" anchor="ctr">
                    <a:solidFill>
                      <a:srgbClr val="0070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Decision</a:t>
                      </a:r>
                    </a:p>
                  </a:txBody>
                  <a:tcPr marL="54864" marR="54864" marT="36576" marB="36576" anchor="ctr">
                    <a:solidFill>
                      <a:srgbClr val="0070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232D28"/>
                          </a:solidFill>
                          <a:latin typeface="Aptos"/>
                        </a:defRPr>
                      </a:pPr>
                      <a:r>
                        <a:t>Strong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232D28"/>
                          </a:solidFill>
                          <a:latin typeface="Aptos"/>
                        </a:defRPr>
                      </a:pPr>
                      <a:r>
                        <a:t>spendPurchase, membershipCard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232D28"/>
                          </a:solidFill>
                          <a:latin typeface="Aptos"/>
                        </a:defRPr>
                      </a:pPr>
                      <a:r>
                        <a:t>Chênh lệch rõ giữa Frequent/Infrequent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232D28"/>
                          </a:solidFill>
                          <a:latin typeface="Aptos"/>
                        </a:defRPr>
                      </a:pPr>
                      <a:r>
                        <a:t>Dùng làm trọng tâm recommendation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232D28"/>
                          </a:solidFill>
                          <a:latin typeface="Aptos"/>
                        </a:defRPr>
                      </a:pPr>
                      <a:r>
                        <a:t>Medium</a:t>
                      </a:r>
                    </a:p>
                  </a:txBody>
                  <a:tcPr marL="54864" marR="54864" marT="36576" marB="36576" anchor="ctr">
                    <a:solidFill>
                      <a:srgbClr val="F8FB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232D28"/>
                          </a:solidFill>
                          <a:latin typeface="Aptos"/>
                        </a:defRPr>
                      </a:pPr>
                      <a:r>
                        <a:t>income, timeSpend, status</a:t>
                      </a:r>
                    </a:p>
                  </a:txBody>
                  <a:tcPr marL="54864" marR="54864" marT="36576" marB="36576" anchor="ctr">
                    <a:solidFill>
                      <a:srgbClr val="F8FB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232D28"/>
                          </a:solidFill>
                          <a:latin typeface="Aptos"/>
                        </a:defRPr>
                      </a:pPr>
                      <a:r>
                        <a:t>Có pattern nhưng cần đọc kèm n và bối cảnh</a:t>
                      </a:r>
                    </a:p>
                  </a:txBody>
                  <a:tcPr marL="54864" marR="54864" marT="36576" marB="36576" anchor="ctr">
                    <a:solidFill>
                      <a:srgbClr val="F8FB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232D28"/>
                          </a:solidFill>
                          <a:latin typeface="Aptos"/>
                        </a:defRPr>
                      </a:pPr>
                      <a:r>
                        <a:t>Dùng để hỗ trợ segmentation</a:t>
                      </a:r>
                    </a:p>
                  </a:txBody>
                  <a:tcPr marL="54864" marR="54864" marT="36576" marB="36576" anchor="ctr">
                    <a:solidFill>
                      <a:srgbClr val="F8F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232D28"/>
                          </a:solidFill>
                          <a:latin typeface="Aptos"/>
                        </a:defRPr>
                      </a:pPr>
                      <a:r>
                        <a:t>Weak / caution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232D28"/>
                          </a:solidFill>
                          <a:latin typeface="Aptos"/>
                        </a:defRPr>
                      </a:pPr>
                      <a:r>
                        <a:t>location, gender, method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232D28"/>
                          </a:solidFill>
                          <a:latin typeface="Aptos"/>
                        </a:defRPr>
                      </a:pPr>
                      <a:r>
                        <a:t>Location không nhất quán; method khác biệt nhỏ; gender không nên là trọng tâm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232D28"/>
                          </a:solidFill>
                          <a:latin typeface="Aptos"/>
                        </a:defRPr>
                      </a:pPr>
                      <a:r>
                        <a:rPr dirty="0" err="1"/>
                        <a:t>Không</a:t>
                      </a:r>
                      <a:r>
                        <a:rPr dirty="0"/>
                        <a:t> overclaim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77240" y="4367628"/>
            <a:ext cx="10515600" cy="1097280"/>
          </a:xfrm>
          <a:prstGeom prst="roundRect">
            <a:avLst/>
          </a:prstGeom>
          <a:solidFill>
            <a:srgbClr val="F1F8F4"/>
          </a:solidFill>
          <a:ln w="12700">
            <a:solidFill>
              <a:srgbClr val="DA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37160" rtlCol="0" anchor="ctr"/>
          <a:lstStyle/>
          <a:p>
            <a:pPr algn="ctr">
              <a:defRPr sz="1300" b="1">
                <a:solidFill>
                  <a:srgbClr val="004C33"/>
                </a:solidFill>
                <a:latin typeface="Aptos Display"/>
              </a:defRPr>
            </a:pPr>
            <a:r>
              <a:rPr sz="1400" dirty="0"/>
              <a:t>Examples of caution</a:t>
            </a:r>
          </a:p>
          <a:p>
            <a:pPr>
              <a:spcBef>
                <a:spcPts val="400"/>
              </a:spcBef>
              <a:defRPr sz="1150">
                <a:solidFill>
                  <a:srgbClr val="232D28"/>
                </a:solidFill>
                <a:latin typeface="Aptos"/>
              </a:defRPr>
            </a:pPr>
            <a:r>
              <a:rPr sz="1400" dirty="0"/>
              <a:t>Location: 1km–3km = 37.5%, more than 3km = 32.14%, within 1km = 28.0%. Method: Drive-thru 35.0%, Take away 33.33%, Dine in 31.82%.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577945"/>
            <a:ext cx="8961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4C33"/>
                </a:solidFill>
                <a:latin typeface="Aptos Display"/>
              </a:defRPr>
            </a:pPr>
            <a:r>
              <a:t>Customer Segmentation Summary</a:t>
            </a:r>
          </a:p>
        </p:txBody>
      </p:sp>
      <p:pic>
        <p:nvPicPr>
          <p:cNvPr id="5" name="Picture 4" descr="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15794"/>
            <a:ext cx="4389120" cy="3749039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7981143"/>
              </p:ext>
            </p:extLst>
          </p:nvPr>
        </p:nvGraphicFramePr>
        <p:xfrm>
          <a:off x="5532120" y="1607234"/>
          <a:ext cx="557784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Metric</a:t>
                      </a:r>
                    </a:p>
                  </a:txBody>
                  <a:tcPr marL="54864" marR="54864" marT="36576" marB="36576" anchor="ctr">
                    <a:solidFill>
                      <a:srgbClr val="0070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Frequent customers</a:t>
                      </a:r>
                    </a:p>
                  </a:txBody>
                  <a:tcPr marL="54864" marR="54864" marT="36576" marB="36576" anchor="ctr">
                    <a:solidFill>
                      <a:srgbClr val="0070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Infrequent customers</a:t>
                      </a:r>
                    </a:p>
                  </a:txBody>
                  <a:tcPr marL="54864" marR="54864" marT="36576" marB="36576" anchor="ctr">
                    <a:solidFill>
                      <a:srgbClr val="0070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232D28"/>
                          </a:solidFill>
                          <a:latin typeface="Aptos"/>
                        </a:defRPr>
                      </a:pPr>
                      <a:r>
                        <a:t>n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32D28"/>
                          </a:solidFill>
                          <a:latin typeface="Aptos"/>
                        </a:defRPr>
                      </a:pPr>
                      <a:r>
                        <a:t>37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32D28"/>
                          </a:solidFill>
                          <a:latin typeface="Aptos"/>
                        </a:defRPr>
                      </a:pPr>
                      <a:r>
                        <a:t>76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232D28"/>
                          </a:solidFill>
                          <a:latin typeface="Aptos"/>
                        </a:defRPr>
                      </a:pPr>
                      <a:r>
                        <a:t>Avg spend score</a:t>
                      </a:r>
                    </a:p>
                  </a:txBody>
                  <a:tcPr marL="54864" marR="54864" marT="36576" marB="36576" anchor="ctr">
                    <a:solidFill>
                      <a:srgbClr val="F8FB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32D28"/>
                          </a:solidFill>
                          <a:latin typeface="Aptos"/>
                        </a:defRPr>
                      </a:pPr>
                      <a:r>
                        <a:t>1.86</a:t>
                      </a:r>
                    </a:p>
                  </a:txBody>
                  <a:tcPr marL="54864" marR="54864" marT="36576" marB="36576" anchor="ctr">
                    <a:solidFill>
                      <a:srgbClr val="F8FB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32D28"/>
                          </a:solidFill>
                          <a:latin typeface="Aptos"/>
                        </a:defRPr>
                      </a:pPr>
                      <a:r>
                        <a:t>1.29</a:t>
                      </a:r>
                    </a:p>
                  </a:txBody>
                  <a:tcPr marL="54864" marR="54864" marT="36576" marB="36576" anchor="ctr">
                    <a:solidFill>
                      <a:srgbClr val="F8F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232D28"/>
                          </a:solidFill>
                          <a:latin typeface="Aptos"/>
                        </a:defRPr>
                      </a:pPr>
                      <a:r>
                        <a:t>Membership rate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32D28"/>
                          </a:solidFill>
                          <a:latin typeface="Aptos"/>
                        </a:defRPr>
                      </a:pPr>
                      <a:r>
                        <a:t>0.73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32D28"/>
                          </a:solidFill>
                          <a:latin typeface="Aptos"/>
                        </a:defRPr>
                      </a:pPr>
                      <a:r>
                        <a:t>0.43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232D28"/>
                          </a:solidFill>
                          <a:latin typeface="Aptos"/>
                        </a:defRPr>
                      </a:pPr>
                      <a:r>
                        <a:t>Avg income score</a:t>
                      </a:r>
                    </a:p>
                  </a:txBody>
                  <a:tcPr marL="54864" marR="54864" marT="36576" marB="36576" anchor="ctr">
                    <a:solidFill>
                      <a:srgbClr val="F8FB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32D28"/>
                          </a:solidFill>
                          <a:latin typeface="Aptos"/>
                        </a:defRPr>
                      </a:pPr>
                      <a:r>
                        <a:t>1.05</a:t>
                      </a:r>
                    </a:p>
                  </a:txBody>
                  <a:tcPr marL="54864" marR="54864" marT="36576" marB="36576" anchor="ctr">
                    <a:solidFill>
                      <a:srgbClr val="F8FB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32D28"/>
                          </a:solidFill>
                          <a:latin typeface="Aptos"/>
                        </a:defRPr>
                      </a:pPr>
                      <a:r>
                        <a:t>0.62</a:t>
                      </a:r>
                    </a:p>
                  </a:txBody>
                  <a:tcPr marL="54864" marR="54864" marT="36576" marB="36576" anchor="ctr">
                    <a:solidFill>
                      <a:srgbClr val="F8F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232D28"/>
                          </a:solidFill>
                          <a:latin typeface="Aptos"/>
                        </a:defRPr>
                      </a:pPr>
                      <a:r>
                        <a:t>Avg timeSpend score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32D28"/>
                          </a:solidFill>
                          <a:latin typeface="Aptos"/>
                        </a:defRPr>
                      </a:pPr>
                      <a:r>
                        <a:t>0.92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32D28"/>
                          </a:solidFill>
                          <a:latin typeface="Aptos"/>
                        </a:defRPr>
                      </a:pPr>
                      <a:r>
                        <a:t>0.47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532120" y="4853353"/>
            <a:ext cx="5623560" cy="854375"/>
          </a:xfrm>
          <a:prstGeom prst="roundRect">
            <a:avLst/>
          </a:prstGeom>
          <a:solidFill>
            <a:srgbClr val="F1F8F4"/>
          </a:solidFill>
          <a:ln w="12700">
            <a:solidFill>
              <a:srgbClr val="DA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37160" rtlCol="0" anchor="ctr"/>
          <a:lstStyle/>
          <a:p>
            <a:pPr algn="ctr">
              <a:defRPr sz="1300" b="1">
                <a:solidFill>
                  <a:srgbClr val="004C33"/>
                </a:solidFill>
                <a:latin typeface="Aptos Display"/>
              </a:defRPr>
            </a:pPr>
            <a:r>
              <a:rPr sz="1400" dirty="0"/>
              <a:t>Segment interpretation</a:t>
            </a:r>
          </a:p>
          <a:p>
            <a:pPr algn="ctr">
              <a:spcBef>
                <a:spcPts val="400"/>
              </a:spcBef>
              <a:defRPr sz="1150">
                <a:solidFill>
                  <a:srgbClr val="232D28"/>
                </a:solidFill>
                <a:latin typeface="Aptos"/>
              </a:defRPr>
            </a:pPr>
            <a:r>
              <a:rPr sz="1400" dirty="0"/>
              <a:t>Frequent customers </a:t>
            </a:r>
            <a:r>
              <a:rPr sz="1400" dirty="0" err="1"/>
              <a:t>nổi</a:t>
            </a:r>
            <a:r>
              <a:rPr sz="1400" dirty="0"/>
              <a:t> </a:t>
            </a:r>
            <a:r>
              <a:rPr sz="1400" dirty="0" err="1"/>
              <a:t>bật</a:t>
            </a:r>
            <a:r>
              <a:rPr sz="1400" dirty="0"/>
              <a:t> </a:t>
            </a:r>
            <a:r>
              <a:rPr sz="1400" dirty="0" err="1"/>
              <a:t>hơn</a:t>
            </a:r>
            <a:r>
              <a:rPr sz="1400" dirty="0"/>
              <a:t> ở spend, membership </a:t>
            </a:r>
            <a:r>
              <a:rPr sz="1400" dirty="0" err="1"/>
              <a:t>và</a:t>
            </a:r>
            <a:r>
              <a:rPr sz="1400" dirty="0"/>
              <a:t> </a:t>
            </a:r>
            <a:r>
              <a:rPr sz="1400" dirty="0" err="1"/>
              <a:t>timeSpend</a:t>
            </a:r>
            <a:r>
              <a:rPr sz="1400" dirty="0"/>
              <a:t>; location </a:t>
            </a:r>
            <a:r>
              <a:rPr sz="1400" dirty="0" err="1"/>
              <a:t>gần</a:t>
            </a:r>
            <a:r>
              <a:rPr sz="1400" dirty="0"/>
              <a:t> </a:t>
            </a:r>
            <a:r>
              <a:rPr sz="1400" dirty="0" err="1"/>
              <a:t>như</a:t>
            </a:r>
            <a:r>
              <a:rPr sz="1400" dirty="0"/>
              <a:t> </a:t>
            </a:r>
            <a:r>
              <a:rPr sz="1400" dirty="0" err="1"/>
              <a:t>không</a:t>
            </a:r>
            <a:r>
              <a:rPr sz="1400" dirty="0"/>
              <a:t> </a:t>
            </a:r>
            <a:r>
              <a:rPr sz="1400" dirty="0" err="1"/>
              <a:t>khác</a:t>
            </a:r>
            <a:r>
              <a:rPr sz="1400" dirty="0"/>
              <a:t> </a:t>
            </a:r>
            <a:r>
              <a:rPr sz="1400" dirty="0" err="1"/>
              <a:t>biệt</a:t>
            </a:r>
            <a:r>
              <a:rPr sz="1400" dirty="0"/>
              <a:t> </a:t>
            </a:r>
            <a:r>
              <a:rPr sz="1400" dirty="0" err="1"/>
              <a:t>nhiều</a:t>
            </a:r>
            <a:r>
              <a:rPr sz="1400" dirty="0"/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585764"/>
            <a:ext cx="8961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4C33"/>
                </a:solidFill>
                <a:latin typeface="Aptos Display"/>
              </a:defRPr>
            </a:pPr>
            <a:r>
              <a:t>Business Recommendations, Limitations &amp; Conclusion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1852679"/>
              </p:ext>
            </p:extLst>
          </p:nvPr>
        </p:nvGraphicFramePr>
        <p:xfrm>
          <a:off x="411480" y="1379807"/>
          <a:ext cx="11247120" cy="27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3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23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4820">
                <a:tc>
                  <a:txBody>
                    <a:bodyPr/>
                    <a:lstStyle/>
                    <a:p>
                      <a:pPr algn="l">
                        <a:defRPr sz="8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Segment / Lever</a:t>
                      </a:r>
                    </a:p>
                  </a:txBody>
                  <a:tcPr marL="54864" marR="54864" marT="36576" marB="36576" anchor="ctr">
                    <a:solidFill>
                      <a:srgbClr val="0070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Evidence</a:t>
                      </a:r>
                    </a:p>
                  </a:txBody>
                  <a:tcPr marL="54864" marR="54864" marT="36576" marB="36576" anchor="ctr">
                    <a:solidFill>
                      <a:srgbClr val="0070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dirty="0"/>
                        <a:t>Action</a:t>
                      </a:r>
                    </a:p>
                  </a:txBody>
                  <a:tcPr marL="54864" marR="54864" marT="36576" marB="36576" anchor="ctr">
                    <a:solidFill>
                      <a:srgbClr val="0070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4820">
                <a:tc>
                  <a:txBody>
                    <a:bodyPr/>
                    <a:lstStyle/>
                    <a:p>
                      <a:pPr algn="l">
                        <a:defRPr sz="880">
                          <a:solidFill>
                            <a:srgbClr val="232D28"/>
                          </a:solidFill>
                          <a:latin typeface="Aptos"/>
                        </a:defRPr>
                      </a:pPr>
                      <a:r>
                        <a:t>Student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232D28"/>
                          </a:solidFill>
                          <a:latin typeface="Aptos"/>
                        </a:defRPr>
                      </a:pPr>
                      <a:r>
                        <a:t>Spend thấp, frequent rate 18.92%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232D28"/>
                          </a:solidFill>
                          <a:latin typeface="Aptos"/>
                        </a:defRPr>
                      </a:pPr>
                      <a:r>
                        <a:t>Student combo, low-price bundle, campus campaign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4820">
                <a:tc>
                  <a:txBody>
                    <a:bodyPr/>
                    <a:lstStyle/>
                    <a:p>
                      <a:pPr algn="l">
                        <a:defRPr sz="880">
                          <a:solidFill>
                            <a:srgbClr val="232D28"/>
                          </a:solidFill>
                          <a:latin typeface="Aptos"/>
                        </a:defRPr>
                      </a:pPr>
                      <a:r>
                        <a:t>Employed</a:t>
                      </a:r>
                    </a:p>
                  </a:txBody>
                  <a:tcPr marL="54864" marR="54864" marT="36576" marB="36576" anchor="ctr">
                    <a:solidFill>
                      <a:srgbClr val="F8FB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232D28"/>
                          </a:solidFill>
                          <a:latin typeface="Aptos"/>
                        </a:defRPr>
                      </a:pPr>
                      <a:r>
                        <a:t>Nhóm lớn nhất, membership 63.79%</a:t>
                      </a:r>
                    </a:p>
                  </a:txBody>
                  <a:tcPr marL="54864" marR="54864" marT="36576" marB="36576" anchor="ctr">
                    <a:solidFill>
                      <a:srgbClr val="F8FB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232D28"/>
                          </a:solidFill>
                          <a:latin typeface="Aptos"/>
                        </a:defRPr>
                      </a:pPr>
                      <a:r>
                        <a:t>Morning/lunch combo, member reward, personalized offer</a:t>
                      </a:r>
                    </a:p>
                  </a:txBody>
                  <a:tcPr marL="54864" marR="54864" marT="36576" marB="36576" anchor="ctr">
                    <a:solidFill>
                      <a:srgbClr val="F8F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4820">
                <a:tc>
                  <a:txBody>
                    <a:bodyPr/>
                    <a:lstStyle/>
                    <a:p>
                      <a:pPr algn="l">
                        <a:defRPr sz="880">
                          <a:solidFill>
                            <a:srgbClr val="232D28"/>
                          </a:solidFill>
                          <a:latin typeface="Aptos"/>
                        </a:defRPr>
                      </a:pPr>
                      <a:r>
                        <a:t>Self-employed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232D28"/>
                          </a:solidFill>
                          <a:latin typeface="Aptos"/>
                        </a:defRPr>
                      </a:pPr>
                      <a:r>
                        <a:t>Frequent rate 43.75%, n nhỏ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232D28"/>
                          </a:solidFill>
                          <a:latin typeface="Aptos"/>
                        </a:defRPr>
                      </a:pPr>
                      <a:r>
                        <a:t>Workspace-friendly offer, meeting combo, WiFi/seat comfort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4820">
                <a:tc>
                  <a:txBody>
                    <a:bodyPr/>
                    <a:lstStyle/>
                    <a:p>
                      <a:pPr algn="l">
                        <a:defRPr sz="880">
                          <a:solidFill>
                            <a:srgbClr val="232D28"/>
                          </a:solidFill>
                          <a:latin typeface="Aptos"/>
                        </a:defRPr>
                      </a:pPr>
                      <a:r>
                        <a:t>Membership</a:t>
                      </a:r>
                    </a:p>
                  </a:txBody>
                  <a:tcPr marL="54864" marR="54864" marT="36576" marB="36576" anchor="ctr">
                    <a:solidFill>
                      <a:srgbClr val="F8FB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232D28"/>
                          </a:solidFill>
                          <a:latin typeface="Aptos"/>
                        </a:defRPr>
                      </a:pPr>
                      <a:r>
                        <a:t>Yes: frequent rate 45.0%</a:t>
                      </a:r>
                    </a:p>
                  </a:txBody>
                  <a:tcPr marL="54864" marR="54864" marT="36576" marB="36576" anchor="ctr">
                    <a:solidFill>
                      <a:srgbClr val="F8FB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232D28"/>
                          </a:solidFill>
                          <a:latin typeface="Aptos"/>
                        </a:defRPr>
                      </a:pPr>
                      <a:r>
                        <a:rPr dirty="0"/>
                        <a:t>Reward points, monthly challenge, member promotion</a:t>
                      </a:r>
                    </a:p>
                  </a:txBody>
                  <a:tcPr marL="54864" marR="54864" marT="36576" marB="36576" anchor="ctr">
                    <a:solidFill>
                      <a:srgbClr val="F8F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4820">
                <a:tc>
                  <a:txBody>
                    <a:bodyPr/>
                    <a:lstStyle/>
                    <a:p>
                      <a:pPr algn="l">
                        <a:defRPr sz="880">
                          <a:solidFill>
                            <a:srgbClr val="232D28"/>
                          </a:solidFill>
                          <a:latin typeface="Aptos"/>
                        </a:defRPr>
                      </a:pPr>
                      <a:r>
                        <a:t>Spending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232D28"/>
                          </a:solidFill>
                          <a:latin typeface="Aptos"/>
                        </a:defRPr>
                      </a:pPr>
                      <a:r>
                        <a:t>RM20–40 frequent rate 53.33%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232D28"/>
                          </a:solidFill>
                          <a:latin typeface="Aptos"/>
                        </a:defRPr>
                      </a:pPr>
                      <a:r>
                        <a:rPr dirty="0"/>
                        <a:t>Bundle RM20–40, upsell combo, repeat purchase reward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94360" y="4414130"/>
            <a:ext cx="5440680" cy="14083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37160" rtlCol="0" anchor="ctr"/>
          <a:lstStyle/>
          <a:p>
            <a:pPr algn="ctr">
              <a:defRPr sz="1300" b="1">
                <a:solidFill>
                  <a:srgbClr val="004C33"/>
                </a:solidFill>
                <a:latin typeface="Aptos Display"/>
              </a:defRPr>
            </a:pPr>
            <a:r>
              <a:rPr sz="1400" dirty="0"/>
              <a:t>Limitations</a:t>
            </a:r>
          </a:p>
          <a:p>
            <a:pPr>
              <a:spcBef>
                <a:spcPts val="400"/>
              </a:spcBef>
              <a:defRPr sz="1150">
                <a:solidFill>
                  <a:srgbClr val="232D28"/>
                </a:solidFill>
                <a:latin typeface="Aptos"/>
              </a:defRPr>
            </a:pPr>
            <a:r>
              <a:rPr sz="1400" dirty="0"/>
              <a:t>Dataset </a:t>
            </a:r>
            <a:r>
              <a:rPr sz="1400" dirty="0" err="1"/>
              <a:t>nhỏ</a:t>
            </a:r>
            <a:r>
              <a:rPr sz="1400" dirty="0"/>
              <a:t> (113 </a:t>
            </a:r>
            <a:r>
              <a:rPr sz="1400" dirty="0" err="1"/>
              <a:t>khách</a:t>
            </a:r>
            <a:r>
              <a:rPr sz="1400" dirty="0"/>
              <a:t>); </a:t>
            </a:r>
            <a:r>
              <a:rPr sz="1400" dirty="0" err="1"/>
              <a:t>dữ</a:t>
            </a:r>
            <a:r>
              <a:rPr sz="1400" dirty="0"/>
              <a:t> </a:t>
            </a:r>
            <a:r>
              <a:rPr sz="1400" dirty="0" err="1"/>
              <a:t>liệu</a:t>
            </a:r>
            <a:r>
              <a:rPr sz="1400" dirty="0"/>
              <a:t> </a:t>
            </a:r>
            <a:r>
              <a:rPr sz="1400" dirty="0" err="1"/>
              <a:t>khảo</a:t>
            </a:r>
            <a:r>
              <a:rPr sz="1400" dirty="0"/>
              <a:t> </a:t>
            </a:r>
            <a:r>
              <a:rPr sz="1400" dirty="0" err="1"/>
              <a:t>sát</a:t>
            </a:r>
            <a:r>
              <a:rPr sz="1400" dirty="0"/>
              <a:t> </a:t>
            </a:r>
            <a:r>
              <a:rPr sz="1400" dirty="0" err="1"/>
              <a:t>có</a:t>
            </a:r>
            <a:r>
              <a:rPr sz="1400" dirty="0"/>
              <a:t> </a:t>
            </a:r>
            <a:r>
              <a:rPr sz="1400" dirty="0" err="1"/>
              <a:t>thể</a:t>
            </a:r>
            <a:r>
              <a:rPr sz="1400" dirty="0"/>
              <a:t> </a:t>
            </a:r>
            <a:r>
              <a:rPr sz="1400" dirty="0" err="1"/>
              <a:t>có</a:t>
            </a:r>
            <a:r>
              <a:rPr sz="1400" dirty="0"/>
              <a:t> response bias; </a:t>
            </a:r>
            <a:r>
              <a:rPr sz="1400" dirty="0" err="1"/>
              <a:t>một</a:t>
            </a:r>
            <a:r>
              <a:rPr sz="1400" dirty="0"/>
              <a:t> </a:t>
            </a:r>
            <a:r>
              <a:rPr sz="1400" dirty="0" err="1"/>
              <a:t>số</a:t>
            </a:r>
            <a:r>
              <a:rPr sz="1400" dirty="0"/>
              <a:t> </a:t>
            </a:r>
            <a:r>
              <a:rPr sz="1400" dirty="0" err="1"/>
              <a:t>nhóm</a:t>
            </a:r>
            <a:r>
              <a:rPr sz="1400" dirty="0"/>
              <a:t> n </a:t>
            </a:r>
            <a:r>
              <a:rPr sz="1400" dirty="0" err="1"/>
              <a:t>rất</a:t>
            </a:r>
            <a:r>
              <a:rPr sz="1400" dirty="0"/>
              <a:t> </a:t>
            </a:r>
            <a:r>
              <a:rPr sz="1400" dirty="0" err="1"/>
              <a:t>nhỏ</a:t>
            </a:r>
            <a:r>
              <a:rPr sz="1400" dirty="0"/>
              <a:t>; </a:t>
            </a:r>
            <a:r>
              <a:rPr sz="1400" dirty="0" err="1"/>
              <a:t>phân</a:t>
            </a:r>
            <a:r>
              <a:rPr sz="1400" dirty="0"/>
              <a:t> </a:t>
            </a:r>
            <a:r>
              <a:rPr sz="1400" dirty="0" err="1"/>
              <a:t>tích</a:t>
            </a:r>
            <a:r>
              <a:rPr sz="1400" dirty="0"/>
              <a:t> </a:t>
            </a:r>
            <a:r>
              <a:rPr sz="1400" dirty="0" err="1"/>
              <a:t>hiện</a:t>
            </a:r>
            <a:r>
              <a:rPr sz="1400" dirty="0"/>
              <a:t> </a:t>
            </a:r>
            <a:r>
              <a:rPr sz="1400" dirty="0" err="1"/>
              <a:t>tại</a:t>
            </a:r>
            <a:r>
              <a:rPr sz="1400" dirty="0"/>
              <a:t> </a:t>
            </a:r>
            <a:r>
              <a:rPr sz="1400" dirty="0" err="1"/>
              <a:t>là</a:t>
            </a:r>
            <a:r>
              <a:rPr sz="1400" dirty="0"/>
              <a:t> EDA/segmentation, </a:t>
            </a:r>
            <a:r>
              <a:rPr sz="1400" dirty="0" err="1"/>
              <a:t>chưa</a:t>
            </a:r>
            <a:r>
              <a:rPr sz="1400" dirty="0"/>
              <a:t> </a:t>
            </a:r>
            <a:r>
              <a:rPr sz="1400" dirty="0" err="1"/>
              <a:t>phải</a:t>
            </a:r>
            <a:r>
              <a:rPr sz="1400" dirty="0"/>
              <a:t> </a:t>
            </a:r>
            <a:r>
              <a:rPr sz="1400" dirty="0" err="1"/>
              <a:t>mô</a:t>
            </a:r>
            <a:r>
              <a:rPr sz="1400" dirty="0"/>
              <a:t> </a:t>
            </a:r>
            <a:r>
              <a:rPr sz="1400" dirty="0" err="1"/>
              <a:t>hình</a:t>
            </a:r>
            <a:r>
              <a:rPr sz="1400" dirty="0"/>
              <a:t> </a:t>
            </a:r>
            <a:r>
              <a:rPr sz="1400" dirty="0" err="1"/>
              <a:t>dự</a:t>
            </a:r>
            <a:r>
              <a:rPr sz="1400" dirty="0"/>
              <a:t> </a:t>
            </a:r>
            <a:r>
              <a:rPr sz="1400" dirty="0" err="1"/>
              <a:t>đoán</a:t>
            </a:r>
            <a:r>
              <a:rPr sz="1400" dirty="0"/>
              <a:t>; </a:t>
            </a:r>
            <a:r>
              <a:rPr sz="1400" dirty="0" err="1"/>
              <a:t>không</a:t>
            </a:r>
            <a:r>
              <a:rPr sz="1400" dirty="0"/>
              <a:t> </a:t>
            </a:r>
            <a:r>
              <a:rPr sz="1400" dirty="0" err="1"/>
              <a:t>kết</a:t>
            </a:r>
            <a:r>
              <a:rPr sz="1400" dirty="0"/>
              <a:t> </a:t>
            </a:r>
            <a:r>
              <a:rPr sz="1400" dirty="0" err="1"/>
              <a:t>luận</a:t>
            </a:r>
            <a:r>
              <a:rPr sz="1400" dirty="0"/>
              <a:t> </a:t>
            </a:r>
            <a:r>
              <a:rPr sz="1400" dirty="0" err="1"/>
              <a:t>quan</a:t>
            </a:r>
            <a:r>
              <a:rPr sz="1400" dirty="0"/>
              <a:t> </a:t>
            </a:r>
            <a:r>
              <a:rPr sz="1400" dirty="0" err="1"/>
              <a:t>hệ</a:t>
            </a:r>
            <a:r>
              <a:rPr sz="1400" dirty="0"/>
              <a:t> </a:t>
            </a:r>
            <a:r>
              <a:rPr sz="1400" dirty="0" err="1"/>
              <a:t>nhân</a:t>
            </a:r>
            <a:r>
              <a:rPr sz="1400" dirty="0"/>
              <a:t> </a:t>
            </a:r>
            <a:r>
              <a:rPr sz="1400" dirty="0" err="1"/>
              <a:t>quả</a:t>
            </a:r>
            <a:r>
              <a:rPr sz="1400" dirty="0"/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3231" y="4414130"/>
            <a:ext cx="5536809" cy="1408332"/>
          </a:xfrm>
          <a:prstGeom prst="roundRect">
            <a:avLst/>
          </a:prstGeom>
          <a:solidFill>
            <a:srgbClr val="F1F8F4"/>
          </a:solidFill>
          <a:ln w="12700">
            <a:solidFill>
              <a:srgbClr val="DA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37160" rtlCol="0" anchor="ctr"/>
          <a:lstStyle/>
          <a:p>
            <a:pPr algn="ctr">
              <a:defRPr sz="1300" b="1">
                <a:solidFill>
                  <a:srgbClr val="004C33"/>
                </a:solidFill>
                <a:latin typeface="Aptos Display"/>
              </a:defRPr>
            </a:pPr>
            <a:r>
              <a:rPr sz="1400" dirty="0"/>
              <a:t>Conclusion</a:t>
            </a:r>
          </a:p>
          <a:p>
            <a:pPr>
              <a:spcBef>
                <a:spcPts val="400"/>
              </a:spcBef>
              <a:defRPr sz="1150">
                <a:solidFill>
                  <a:srgbClr val="232D28"/>
                </a:solidFill>
                <a:latin typeface="Aptos"/>
              </a:defRPr>
            </a:pPr>
            <a:r>
              <a:rPr sz="1400" dirty="0"/>
              <a:t>Starbucks </a:t>
            </a:r>
            <a:r>
              <a:rPr sz="1400" dirty="0" err="1"/>
              <a:t>nên</a:t>
            </a:r>
            <a:r>
              <a:rPr sz="1400" dirty="0"/>
              <a:t> </a:t>
            </a:r>
            <a:r>
              <a:rPr sz="1400" dirty="0" err="1"/>
              <a:t>ưu</a:t>
            </a:r>
            <a:r>
              <a:rPr sz="1400" dirty="0"/>
              <a:t> </a:t>
            </a:r>
            <a:r>
              <a:rPr sz="1400" dirty="0" err="1"/>
              <a:t>tiên</a:t>
            </a:r>
            <a:r>
              <a:rPr sz="1400" dirty="0"/>
              <a:t> membership, spending bundle </a:t>
            </a:r>
            <a:r>
              <a:rPr sz="1400" dirty="0" err="1"/>
              <a:t>và</a:t>
            </a:r>
            <a:r>
              <a:rPr sz="1400" dirty="0"/>
              <a:t> </a:t>
            </a:r>
            <a:r>
              <a:rPr sz="1400" dirty="0" err="1"/>
              <a:t>chiến</a:t>
            </a:r>
            <a:r>
              <a:rPr sz="1400" dirty="0"/>
              <a:t> </a:t>
            </a:r>
            <a:r>
              <a:rPr sz="1400" dirty="0" err="1"/>
              <a:t>lược</a:t>
            </a:r>
            <a:r>
              <a:rPr sz="1400" dirty="0"/>
              <a:t> </a:t>
            </a:r>
            <a:r>
              <a:rPr sz="1400" dirty="0" err="1"/>
              <a:t>riêng</a:t>
            </a:r>
            <a:r>
              <a:rPr sz="1400" dirty="0"/>
              <a:t> </a:t>
            </a:r>
            <a:r>
              <a:rPr sz="1400" dirty="0" err="1"/>
              <a:t>cho</a:t>
            </a:r>
            <a:r>
              <a:rPr sz="1400" dirty="0"/>
              <a:t> </a:t>
            </a:r>
            <a:r>
              <a:rPr sz="1400" dirty="0" err="1"/>
              <a:t>từng</a:t>
            </a:r>
            <a:r>
              <a:rPr sz="1400" dirty="0"/>
              <a:t> </a:t>
            </a:r>
            <a:r>
              <a:rPr sz="1400" dirty="0" err="1"/>
              <a:t>nhóm</a:t>
            </a:r>
            <a:r>
              <a:rPr sz="1400" dirty="0"/>
              <a:t> </a:t>
            </a:r>
            <a:r>
              <a:rPr sz="1400" dirty="0" err="1"/>
              <a:t>khách</a:t>
            </a:r>
            <a:r>
              <a:rPr sz="1400" dirty="0"/>
              <a:t> </a:t>
            </a:r>
            <a:r>
              <a:rPr sz="1400" dirty="0" err="1"/>
              <a:t>hàng</a:t>
            </a:r>
            <a:r>
              <a:rPr sz="1400" dirty="0"/>
              <a:t>, </a:t>
            </a:r>
            <a:r>
              <a:rPr sz="1400" dirty="0" err="1"/>
              <a:t>nhưng</a:t>
            </a:r>
            <a:r>
              <a:rPr sz="1400" dirty="0"/>
              <a:t> </a:t>
            </a:r>
            <a:r>
              <a:rPr sz="1400" dirty="0" err="1"/>
              <a:t>cần</a:t>
            </a:r>
            <a:r>
              <a:rPr sz="1400" dirty="0"/>
              <a:t> </a:t>
            </a:r>
            <a:r>
              <a:rPr sz="1400" dirty="0" err="1"/>
              <a:t>thêm</a:t>
            </a:r>
            <a:r>
              <a:rPr sz="1400" dirty="0"/>
              <a:t> </a:t>
            </a:r>
            <a:r>
              <a:rPr sz="1400" dirty="0" err="1"/>
              <a:t>dữ</a:t>
            </a:r>
            <a:r>
              <a:rPr sz="1400" dirty="0"/>
              <a:t> </a:t>
            </a:r>
            <a:r>
              <a:rPr sz="1400" dirty="0" err="1"/>
              <a:t>liệu</a:t>
            </a:r>
            <a:r>
              <a:rPr sz="1400" dirty="0"/>
              <a:t> </a:t>
            </a:r>
            <a:r>
              <a:rPr sz="1400" dirty="0" err="1"/>
              <a:t>lớn</a:t>
            </a:r>
            <a:r>
              <a:rPr sz="1400" dirty="0"/>
              <a:t> </a:t>
            </a:r>
            <a:r>
              <a:rPr sz="1400" dirty="0" err="1"/>
              <a:t>hơn</a:t>
            </a:r>
            <a:r>
              <a:rPr sz="1400" dirty="0"/>
              <a:t> </a:t>
            </a:r>
            <a:r>
              <a:rPr sz="1400" dirty="0" err="1"/>
              <a:t>để</a:t>
            </a:r>
            <a:r>
              <a:rPr sz="1400" dirty="0"/>
              <a:t> </a:t>
            </a:r>
            <a:r>
              <a:rPr sz="1400" dirty="0" err="1"/>
              <a:t>xác</a:t>
            </a:r>
            <a:r>
              <a:rPr sz="1400" dirty="0"/>
              <a:t> </a:t>
            </a:r>
            <a:r>
              <a:rPr sz="1400" dirty="0" err="1"/>
              <a:t>nhận</a:t>
            </a:r>
            <a:r>
              <a:rPr sz="1400" dirty="0"/>
              <a:t> insight.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AC85585-64AD-ED69-C0C6-C922DE3118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2268268"/>
              </p:ext>
            </p:extLst>
          </p:nvPr>
        </p:nvGraphicFramePr>
        <p:xfrm>
          <a:off x="1969477" y="3058160"/>
          <a:ext cx="812799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6128616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31908900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6434147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Tên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Nguyễn Khắc Tùng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Nguyễn Anh </a:t>
                      </a:r>
                      <a:r>
                        <a:rPr lang="en-US" dirty="0" err="1"/>
                        <a:t>Sơn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25103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Mức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đóng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góp</a:t>
                      </a:r>
                      <a:r>
                        <a:rPr lang="en-US" dirty="0"/>
                        <a:t>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336993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6212AE7-D614-7EDE-7DFC-D7589E3A36C8}"/>
              </a:ext>
            </a:extLst>
          </p:cNvPr>
          <p:cNvSpPr txBox="1"/>
          <p:nvPr/>
        </p:nvSpPr>
        <p:spPr>
          <a:xfrm>
            <a:off x="4215036" y="2330177"/>
            <a:ext cx="3761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Đánh</a:t>
            </a:r>
            <a:r>
              <a:rPr lang="en-US" b="1" dirty="0"/>
              <a:t> </a:t>
            </a:r>
            <a:r>
              <a:rPr lang="en-US" b="1" dirty="0" err="1"/>
              <a:t>giá</a:t>
            </a:r>
            <a:r>
              <a:rPr lang="en-US" b="1" dirty="0"/>
              <a:t> </a:t>
            </a:r>
            <a:r>
              <a:rPr lang="en-US" b="1" dirty="0" err="1"/>
              <a:t>mức</a:t>
            </a:r>
            <a:r>
              <a:rPr lang="en-US" b="1" dirty="0"/>
              <a:t> </a:t>
            </a:r>
            <a:r>
              <a:rPr lang="en-US" b="1" dirty="0" err="1"/>
              <a:t>độ</a:t>
            </a:r>
            <a:r>
              <a:rPr lang="en-US" b="1" dirty="0"/>
              <a:t> </a:t>
            </a:r>
            <a:r>
              <a:rPr lang="en-US" b="1" dirty="0" err="1"/>
              <a:t>đóng</a:t>
            </a:r>
            <a:r>
              <a:rPr lang="en-US" b="1" dirty="0"/>
              <a:t> </a:t>
            </a:r>
            <a:r>
              <a:rPr lang="en-US" b="1" dirty="0" err="1"/>
              <a:t>góp</a:t>
            </a:r>
            <a:r>
              <a:rPr lang="en-US" b="1" dirty="0"/>
              <a:t> </a:t>
            </a:r>
            <a:r>
              <a:rPr lang="en-US" b="1" dirty="0" err="1"/>
              <a:t>của</a:t>
            </a:r>
            <a:r>
              <a:rPr lang="en-US" b="1" dirty="0"/>
              <a:t> </a:t>
            </a:r>
            <a:r>
              <a:rPr lang="en-US" b="1" dirty="0" err="1"/>
              <a:t>nhóm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217256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1224</Words>
  <Application>Microsoft Office PowerPoint</Application>
  <PresentationFormat>Widescreen</PresentationFormat>
  <Paragraphs>238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Nguyễn Khắc Tùng</cp:lastModifiedBy>
  <cp:revision>4</cp:revision>
  <dcterms:created xsi:type="dcterms:W3CDTF">2013-01-27T09:14:16Z</dcterms:created>
  <dcterms:modified xsi:type="dcterms:W3CDTF">2026-06-02T01:14:24Z</dcterms:modified>
  <cp:category/>
</cp:coreProperties>
</file>